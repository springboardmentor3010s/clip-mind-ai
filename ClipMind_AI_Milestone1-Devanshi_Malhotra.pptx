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I'm presenting Milestone 1 of ClipMind AI, an AI-powered video summarization and key-moments detection platform. This milestone covers the first two weeks of an eight-week roadmap: project initialization, system design, and getting a real working prototype live. Everything I show today is from the actual running application, not mockups.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Long-form video is everywhere, but consuming it is slow. Nobody wants to scrub through a 28-minute recording to find one quote. ClipMind AI's objective is simple: upload a video and instantly get a transcript, a summary, and the key moments, all through one centralized platform, built for creators, students, educators, businesses and researchers alike.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target architecture we designed in Week 1: users and roles, the web app, an API gateway, the AI and video processing pipeline, and the data layer. For Milestone 1 specifically, we've brought the left-hand slice of this to life: Next.js on the frontend, FastAPI on the backend, PostgreSQL through SQLAlchemy, FFmpeg for media handling, and JWT-based auth, all containerizable with Docker for AWS or Azure deployment down the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wins from Week 1 was full ORM automation. I never hand-wrote a single CREATE TABLE statement. SQLAlchemy models define the Users and Videos tables, and they auto-generate the moment the backend starts up. This is a live query straight from pgAdmin showing four real seeded users, each with a bcrypt-hashed password and a role, administrator, learner, content_creator, educator, which is the exact field that powers our RBAC system on the next few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we built the backend in FastAPI, we get complete, interactive API documentation automatically. This is the live Swagger UI running right now. It documents our auth, video, and admin routes. You can even log in with a JWT directly in the UI to test secure endpoints without writing any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Milestone 1 I also wanted the UI to feel like a premium, launch-ready SaaS product, not a student prototype. Every screen, landing page, features, how it works, uses a consistent dark glassmorphism system with a violet-to-pink gradient identity, built with Next.js and Tailwind. The same design language carries through into the authenticated dashboard, which you'll see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Admin Dashboard, logged in as the Administrator persona. Notice the sidebar: Admin Dashboard, User Management, Platform Activity, Settings. That entire sidebar and its routing is generated dynamically based on the logged-in user's role. A Content Creator sees upload and analytics tools, a Learner sees a read-only library, an Educator gets classroom sharing tools, and only the Administrator sees user management and platform-wide controls. This is enforced on both the frontend routing and the backend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Management screen is the Administrator's control center. This table is pulling real data from Postgres through the /api/admin/users endpoint, you can see the four seeded accounts with their current roles. Using the dropdown, an admin can promote or demote any user in real time, which calls the PUT /api/admin/users/user_id/role endpoint, itself protected so only an authenticated administrator can hit it. That endpoint, and the rest of the API, is documented live through our FastAPI Swagger docs as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actual Upload Content screen and what happens behind it. A creator drags in a video, sets a title, description and tags, and toggles AI Transcript / AI Summary generation. On submit, FastAPI validates and stores the file, then kicks off a background task: FFmpeg pulls a thumbnail frame from the video, and right now we simulate a five-second processing window before the video flips to a completed status, that simulated delay is exactly where Whisper and our NLP models plug in for Milestone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Milestone 1 against the Week 1 to 2 plan: the stack is initialized, authentication and RBAC are fully live across four personas, the database is completely automated through the ORM, the upload pipeline runs real FFmpeg processing in the background, the UI is production-quality, and the admin panel gives real-time control over users. Every box here is a working feature in the live app, not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to Milestone 2, weeks 3 and 4 of the roadmap: we'll replace the simulated processing delay with real OpenAI Whisper transcription, add BART/T5-based summarization for both short and detailed summaries, build out key-moments detection with timestamping and topic segmentation, and start evaluating transcript accuracy and summary quality.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webp"/><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webp"/><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webp"/><Relationship Id="rId2" Type="http://schemas.openxmlformats.org/officeDocument/2006/relationships/image" Target="../media/image-6-2.webp"/><Relationship Id="rId3" Type="http://schemas.openxmlformats.org/officeDocument/2006/relationships/image" Target="../media/image-6-3.webp"/><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webp"/><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webp"/><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webp"/><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A16"/>
        </a:solidFill>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7C3AED">
              <a:alpha val="22000"/>
            </a:srgbClr>
          </a:solidFill>
          <a:ln/>
        </p:spPr>
      </p:sp>
      <p:sp>
        <p:nvSpPr>
          <p:cNvPr id="3" name="Shape 1"/>
          <p:cNvSpPr/>
          <p:nvPr/>
        </p:nvSpPr>
        <p:spPr>
          <a:xfrm>
            <a:off x="-1645920" y="4206240"/>
            <a:ext cx="4206240" cy="4206240"/>
          </a:xfrm>
          <a:prstGeom prst="ellipse">
            <a:avLst/>
          </a:prstGeom>
          <a:solidFill>
            <a:srgbClr val="D946EF">
              <a:alpha val="16000"/>
            </a:srgbClr>
          </a:solidFill>
          <a:ln/>
        </p:spPr>
      </p:sp>
      <p:sp>
        <p:nvSpPr>
          <p:cNvPr id="4" name="Shape 2"/>
          <p:cNvSpPr/>
          <p:nvPr/>
        </p:nvSpPr>
        <p:spPr>
          <a:xfrm>
            <a:off x="5230368" y="1051560"/>
            <a:ext cx="822960" cy="822960"/>
          </a:xfrm>
          <a:prstGeom prst="ellipse">
            <a:avLst/>
          </a:prstGeom>
          <a:solidFill>
            <a:srgbClr val="7C3AED"/>
          </a:solidFill>
          <a:ln/>
        </p:spPr>
      </p:sp>
      <p:sp>
        <p:nvSpPr>
          <p:cNvPr id="5" name="Text 3"/>
          <p:cNvSpPr/>
          <p:nvPr/>
        </p:nvSpPr>
        <p:spPr>
          <a:xfrm>
            <a:off x="5230368" y="105156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6" name="Text 4"/>
          <p:cNvSpPr/>
          <p:nvPr/>
        </p:nvSpPr>
        <p:spPr>
          <a:xfrm>
            <a:off x="0" y="2057400"/>
            <a:ext cx="12191695" cy="1005840"/>
          </a:xfrm>
          <a:prstGeom prst="rect">
            <a:avLst/>
          </a:prstGeom>
          <a:noFill/>
          <a:ln/>
        </p:spPr>
        <p:txBody>
          <a:bodyPr wrap="square"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ClipMind AI</a:t>
            </a:r>
            <a:endParaRPr lang="en-US" sz="5400" dirty="0"/>
          </a:p>
        </p:txBody>
      </p:sp>
      <p:sp>
        <p:nvSpPr>
          <p:cNvPr id="7" name="Text 5"/>
          <p:cNvSpPr/>
          <p:nvPr/>
        </p:nvSpPr>
        <p:spPr>
          <a:xfrm>
            <a:off x="914400" y="3063240"/>
            <a:ext cx="10362895" cy="502920"/>
          </a:xfrm>
          <a:prstGeom prst="rect">
            <a:avLst/>
          </a:prstGeom>
          <a:noFill/>
          <a:ln/>
        </p:spPr>
        <p:txBody>
          <a:bodyPr wrap="square" rtlCol="0" anchor="ctr"/>
          <a:lstStyle/>
          <a:p>
            <a:pPr algn="ctr" indent="0" marL="0">
              <a:buNone/>
            </a:pPr>
            <a:r>
              <a:rPr lang="en-US" sz="1800" dirty="0">
                <a:solidFill>
                  <a:srgbClr val="F0ABFC"/>
                </a:solidFill>
                <a:latin typeface="Calibri" pitchFamily="34" charset="0"/>
                <a:ea typeface="Calibri" pitchFamily="34" charset="-122"/>
                <a:cs typeface="Calibri" pitchFamily="34" charset="-120"/>
              </a:rPr>
              <a:t>Video Summarization &amp; Key Moments Detection Platform</a:t>
            </a:r>
            <a:endParaRPr lang="en-US" sz="1800" dirty="0"/>
          </a:p>
        </p:txBody>
      </p:sp>
      <p:sp>
        <p:nvSpPr>
          <p:cNvPr id="8" name="Text 6"/>
          <p:cNvSpPr/>
          <p:nvPr/>
        </p:nvSpPr>
        <p:spPr>
          <a:xfrm>
            <a:off x="914400" y="3611880"/>
            <a:ext cx="10362895" cy="32004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Presented by Devanshi Malhotra</a:t>
            </a:r>
            <a:endParaRPr lang="en-US" sz="1600" dirty="0"/>
          </a:p>
        </p:txBody>
      </p:sp>
      <p:sp>
        <p:nvSpPr>
          <p:cNvPr id="9" name="Shape 7"/>
          <p:cNvSpPr/>
          <p:nvPr/>
        </p:nvSpPr>
        <p:spPr>
          <a:xfrm>
            <a:off x="4041648" y="4114800"/>
            <a:ext cx="4114800" cy="502920"/>
          </a:xfrm>
          <a:prstGeom prst="roundRect">
            <a:avLst>
              <a:gd name="adj" fmla="val 50000"/>
            </a:avLst>
          </a:prstGeom>
          <a:solidFill>
            <a:srgbClr val="5B21B6"/>
          </a:solidFill>
          <a:ln/>
        </p:spPr>
      </p:sp>
      <p:sp>
        <p:nvSpPr>
          <p:cNvPr id="10" name="Text 8"/>
          <p:cNvSpPr/>
          <p:nvPr/>
        </p:nvSpPr>
        <p:spPr>
          <a:xfrm>
            <a:off x="4041648" y="4114800"/>
            <a:ext cx="41148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MILESTONE 1  •  WEEK 1–2</a:t>
            </a:r>
            <a:endParaRPr lang="en-US" sz="1100" dirty="0"/>
          </a:p>
        </p:txBody>
      </p:sp>
      <p:sp>
        <p:nvSpPr>
          <p:cNvPr id="11" name="Text 9"/>
          <p:cNvSpPr/>
          <p:nvPr/>
        </p:nvSpPr>
        <p:spPr>
          <a:xfrm>
            <a:off x="0" y="4800600"/>
            <a:ext cx="12191695" cy="457200"/>
          </a:xfrm>
          <a:prstGeom prst="rect">
            <a:avLst/>
          </a:prstGeom>
          <a:noFill/>
          <a:ln/>
        </p:spPr>
        <p:txBody>
          <a:bodyPr wrap="square" rtlCol="0" anchor="ctr"/>
          <a:lstStyle/>
          <a:p>
            <a:pPr algn="ctr" indent="0" marL="0">
              <a:buNone/>
            </a:pPr>
            <a:r>
              <a:rPr lang="en-US" sz="1400" dirty="0">
                <a:solidFill>
                  <a:srgbClr val="B7AECF"/>
                </a:solidFill>
                <a:latin typeface="Calibri" pitchFamily="34" charset="0"/>
                <a:ea typeface="Calibri" pitchFamily="34" charset="-122"/>
                <a:cs typeface="Calibri" pitchFamily="34" charset="-120"/>
              </a:rPr>
              <a:t>Foundation, Core Setup &amp; Working Prototype</a:t>
            </a:r>
            <a:endParaRPr lang="en-US" sz="1400" dirty="0"/>
          </a:p>
        </p:txBody>
      </p:sp>
      <p:sp>
        <p:nvSpPr>
          <p:cNvPr id="12" name="Text 10"/>
          <p:cNvSpPr/>
          <p:nvPr/>
        </p:nvSpPr>
        <p:spPr>
          <a:xfrm>
            <a:off x="457200" y="6473952"/>
            <a:ext cx="4572000" cy="274320"/>
          </a:xfrm>
          <a:prstGeom prst="rect">
            <a:avLst/>
          </a:prstGeom>
          <a:noFill/>
          <a:ln/>
        </p:spPr>
        <p:txBody>
          <a:bodyPr wrap="square" lIns="0" tIns="0" rIns="0" bIns="0" rtlCol="0" anchor="ctr"/>
          <a:lstStyle/>
          <a:p>
            <a:pPr algn="l" indent="0" marL="0">
              <a:buNone/>
            </a:pPr>
            <a:r>
              <a:rPr lang="en-US" sz="900" dirty="0">
                <a:solidFill>
                  <a:srgbClr val="8A81A6"/>
                </a:solidFill>
                <a:latin typeface="Calibri" pitchFamily="34" charset="0"/>
                <a:ea typeface="Calibri" pitchFamily="34" charset="-122"/>
                <a:cs typeface="Calibri" pitchFamily="34" charset="-120"/>
              </a:rPr>
              <a:t>ClipMind AI  •  Milestone 1</a:t>
            </a:r>
            <a:endParaRPr lang="en-US" sz="900" dirty="0"/>
          </a:p>
        </p:txBody>
      </p:sp>
      <p:sp>
        <p:nvSpPr>
          <p:cNvPr id="13" name="Text 11"/>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8A81A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A16"/>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Problem Statement &amp; Objectives</a:t>
            </a:r>
            <a:endParaRPr lang="en-US" sz="3000" dirty="0"/>
          </a:p>
        </p:txBody>
      </p:sp>
      <p:sp>
        <p:nvSpPr>
          <p:cNvPr id="3" name="Shape 1"/>
          <p:cNvSpPr/>
          <p:nvPr/>
        </p:nvSpPr>
        <p:spPr>
          <a:xfrm>
            <a:off x="548640" y="1417320"/>
            <a:ext cx="5349240" cy="4709160"/>
          </a:xfrm>
          <a:prstGeom prst="roundRect">
            <a:avLst>
              <a:gd name="adj" fmla="val 2330"/>
            </a:avLst>
          </a:prstGeom>
          <a:solidFill>
            <a:srgbClr val="18122B"/>
          </a:solidFill>
          <a:ln/>
        </p:spPr>
      </p:sp>
      <p:sp>
        <p:nvSpPr>
          <p:cNvPr id="4" name="Shape 2"/>
          <p:cNvSpPr/>
          <p:nvPr/>
        </p:nvSpPr>
        <p:spPr>
          <a:xfrm>
            <a:off x="868680" y="1737360"/>
            <a:ext cx="502920" cy="502920"/>
          </a:xfrm>
          <a:prstGeom prst="ellipse">
            <a:avLst/>
          </a:prstGeom>
          <a:solidFill>
            <a:srgbClr val="F87171"/>
          </a:solidFill>
          <a:ln/>
        </p:spPr>
      </p:sp>
      <p:sp>
        <p:nvSpPr>
          <p:cNvPr id="5" name="Text 3"/>
          <p:cNvSpPr/>
          <p:nvPr/>
        </p:nvSpPr>
        <p:spPr>
          <a:xfrm>
            <a:off x="868680" y="17373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6" name="Text 4"/>
          <p:cNvSpPr/>
          <p:nvPr/>
        </p:nvSpPr>
        <p:spPr>
          <a:xfrm>
            <a:off x="1508760" y="1737360"/>
            <a:ext cx="3840480" cy="50292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The Problem</a:t>
            </a:r>
            <a:endParaRPr lang="en-US" sz="2000" dirty="0"/>
          </a:p>
        </p:txBody>
      </p:sp>
      <p:sp>
        <p:nvSpPr>
          <p:cNvPr id="7" name="Text 5"/>
          <p:cNvSpPr/>
          <p:nvPr/>
        </p:nvSpPr>
        <p:spPr>
          <a:xfrm>
            <a:off x="914400" y="2468880"/>
            <a:ext cx="4617720" cy="3337560"/>
          </a:xfrm>
          <a:prstGeom prst="rect">
            <a:avLst/>
          </a:prstGeom>
          <a:noFill/>
          <a:ln/>
        </p:spPr>
        <p:txBody>
          <a:bodyPr wrap="square" rtlCol="0" anchor="t"/>
          <a:lstStyle/>
          <a:p>
            <a:pPr marL="342900" indent="-342900">
              <a:spcAft>
                <a:spcPts val="1400"/>
              </a:spcAft>
              <a:buSzPct val="100000"/>
              <a:buChar char="●"/>
            </a:pPr>
            <a:r>
              <a:rPr lang="en-US" sz="1450" dirty="0">
                <a:solidFill>
                  <a:srgbClr val="B7AECF"/>
                </a:solidFill>
                <a:latin typeface="Calibri" pitchFamily="34" charset="0"/>
                <a:ea typeface="Calibri" pitchFamily="34" charset="-122"/>
                <a:cs typeface="Calibri" pitchFamily="34" charset="-120"/>
              </a:rPr>
              <a:t>Long-form video content takes hours to review manually.</a:t>
            </a:r>
            <a:endParaRPr lang="en-US" sz="1450" dirty="0"/>
          </a:p>
          <a:p>
            <a:pPr marL="342900" indent="-342900">
              <a:spcAft>
                <a:spcPts val="1400"/>
              </a:spcAft>
              <a:buSzPct val="100000"/>
              <a:buChar char="●"/>
            </a:pPr>
            <a:r>
              <a:rPr lang="en-US" sz="1450" dirty="0">
                <a:solidFill>
                  <a:srgbClr val="B7AECF"/>
                </a:solidFill>
                <a:latin typeface="Calibri" pitchFamily="34" charset="0"/>
                <a:ea typeface="Calibri" pitchFamily="34" charset="-122"/>
                <a:cs typeface="Calibri" pitchFamily="34" charset="-120"/>
              </a:rPr>
              <a:t>Creators, students &amp; teams waste time scrubbing timelines for the moment that matters.</a:t>
            </a:r>
            <a:endParaRPr lang="en-US" sz="1450" dirty="0"/>
          </a:p>
          <a:p>
            <a:pPr marL="342900" indent="-342900">
              <a:spcAft>
                <a:spcPts val="1400"/>
              </a:spcAft>
              <a:buSzPct val="100000"/>
              <a:buChar char="●"/>
            </a:pPr>
            <a:r>
              <a:rPr lang="en-US" sz="1450" dirty="0">
                <a:solidFill>
                  <a:srgbClr val="B7AECF"/>
                </a:solidFill>
                <a:latin typeface="Calibri" pitchFamily="34" charset="0"/>
                <a:ea typeface="Calibri" pitchFamily="34" charset="-122"/>
                <a:cs typeface="Calibri" pitchFamily="34" charset="-120"/>
              </a:rPr>
              <a:t>No easy way to search, extract or share the key insight from a recording.</a:t>
            </a:r>
            <a:endParaRPr lang="en-US" sz="1450" dirty="0"/>
          </a:p>
          <a:p>
            <a:pPr marL="342900" indent="-342900">
              <a:spcAft>
                <a:spcPts val="1400"/>
              </a:spcAft>
              <a:buSzPct val="100000"/>
              <a:buChar char="●"/>
            </a:pPr>
            <a:r>
              <a:rPr lang="en-US" sz="1450" dirty="0">
                <a:solidFill>
                  <a:srgbClr val="B7AECF"/>
                </a:solidFill>
                <a:latin typeface="Calibri" pitchFamily="34" charset="0"/>
                <a:ea typeface="Calibri" pitchFamily="34" charset="-122"/>
                <a:cs typeface="Calibri" pitchFamily="34" charset="-120"/>
              </a:rPr>
              <a:t>Existing tools handle either transcription or summaries — rarely both, in one platform.</a:t>
            </a:r>
            <a:endParaRPr lang="en-US" sz="1450" dirty="0"/>
          </a:p>
        </p:txBody>
      </p:sp>
      <p:sp>
        <p:nvSpPr>
          <p:cNvPr id="8" name="Shape 6"/>
          <p:cNvSpPr/>
          <p:nvPr/>
        </p:nvSpPr>
        <p:spPr>
          <a:xfrm>
            <a:off x="6263640" y="1417320"/>
            <a:ext cx="5349240" cy="4709160"/>
          </a:xfrm>
          <a:prstGeom prst="roundRect">
            <a:avLst>
              <a:gd name="adj" fmla="val 2330"/>
            </a:avLst>
          </a:prstGeom>
          <a:solidFill>
            <a:srgbClr val="18122B"/>
          </a:solidFill>
          <a:ln/>
        </p:spPr>
      </p:sp>
      <p:sp>
        <p:nvSpPr>
          <p:cNvPr id="9" name="Shape 7"/>
          <p:cNvSpPr/>
          <p:nvPr/>
        </p:nvSpPr>
        <p:spPr>
          <a:xfrm>
            <a:off x="6583680" y="1737360"/>
            <a:ext cx="502920" cy="502920"/>
          </a:xfrm>
          <a:prstGeom prst="ellipse">
            <a:avLst/>
          </a:prstGeom>
          <a:solidFill>
            <a:srgbClr val="7C3AED"/>
          </a:solidFill>
          <a:ln/>
        </p:spPr>
      </p:sp>
      <p:sp>
        <p:nvSpPr>
          <p:cNvPr id="10" name="Text 8"/>
          <p:cNvSpPr/>
          <p:nvPr/>
        </p:nvSpPr>
        <p:spPr>
          <a:xfrm>
            <a:off x="6583680" y="17373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7223760" y="1737360"/>
            <a:ext cx="3840480" cy="50292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Our Objective</a:t>
            </a:r>
            <a:endParaRPr lang="en-US" sz="2000" dirty="0"/>
          </a:p>
        </p:txBody>
      </p:sp>
      <p:sp>
        <p:nvSpPr>
          <p:cNvPr id="12" name="Text 10"/>
          <p:cNvSpPr/>
          <p:nvPr/>
        </p:nvSpPr>
        <p:spPr>
          <a:xfrm>
            <a:off x="6629400" y="2468880"/>
            <a:ext cx="4617720" cy="1874520"/>
          </a:xfrm>
          <a:prstGeom prst="rect">
            <a:avLst/>
          </a:prstGeom>
          <a:noFill/>
          <a:ln/>
        </p:spPr>
        <p:txBody>
          <a:bodyPr wrap="square" rtlCol="0" anchor="t"/>
          <a:lstStyle/>
          <a:p>
            <a:pPr marL="342900" indent="-342900">
              <a:spcAft>
                <a:spcPts val="1400"/>
              </a:spcAft>
              <a:buSzPct val="100000"/>
              <a:buChar char="●"/>
            </a:pPr>
            <a:r>
              <a:rPr lang="en-US" sz="1450" dirty="0">
                <a:solidFill>
                  <a:srgbClr val="B7AECF"/>
                </a:solidFill>
                <a:latin typeface="Calibri" pitchFamily="34" charset="0"/>
                <a:ea typeface="Calibri" pitchFamily="34" charset="-122"/>
                <a:cs typeface="Calibri" pitchFamily="34" charset="-120"/>
              </a:rPr>
              <a:t>Automatically transcribe, summarize &amp; tag key moments in any uploaded video.</a:t>
            </a:r>
            <a:endParaRPr lang="en-US" sz="1450" dirty="0"/>
          </a:p>
          <a:p>
            <a:pPr marL="342900" indent="-342900">
              <a:spcAft>
                <a:spcPts val="1400"/>
              </a:spcAft>
              <a:buSzPct val="100000"/>
              <a:buChar char="●"/>
            </a:pPr>
            <a:r>
              <a:rPr lang="en-US" sz="1450" dirty="0">
                <a:solidFill>
                  <a:srgbClr val="B7AECF"/>
                </a:solidFill>
                <a:latin typeface="Calibri" pitchFamily="34" charset="0"/>
                <a:ea typeface="Calibri" pitchFamily="34" charset="-122"/>
                <a:cs typeface="Calibri" pitchFamily="34" charset="-120"/>
              </a:rPr>
              <a:t>Deliver quick, actionable insights through a centralized analytics dashboard.</a:t>
            </a:r>
            <a:endParaRPr lang="en-US" sz="1450" dirty="0"/>
          </a:p>
          <a:p>
            <a:pPr marL="342900" indent="-342900">
              <a:spcAft>
                <a:spcPts val="1400"/>
              </a:spcAft>
              <a:buSzPct val="100000"/>
              <a:buChar char="●"/>
            </a:pPr>
            <a:r>
              <a:rPr lang="en-US" sz="1450" dirty="0">
                <a:solidFill>
                  <a:srgbClr val="B7AECF"/>
                </a:solidFill>
                <a:latin typeface="Calibri" pitchFamily="34" charset="0"/>
                <a:ea typeface="Calibri" pitchFamily="34" charset="-122"/>
                <a:cs typeface="Calibri" pitchFamily="34" charset="-120"/>
              </a:rPr>
              <a:t>Serve multiple audiences with tailored workflows and permissions.</a:t>
            </a:r>
            <a:endParaRPr lang="en-US" sz="1450" dirty="0"/>
          </a:p>
        </p:txBody>
      </p:sp>
      <p:sp>
        <p:nvSpPr>
          <p:cNvPr id="13" name="Text 11"/>
          <p:cNvSpPr/>
          <p:nvPr/>
        </p:nvSpPr>
        <p:spPr>
          <a:xfrm>
            <a:off x="6629400" y="4297680"/>
            <a:ext cx="2743200" cy="320040"/>
          </a:xfrm>
          <a:prstGeom prst="rect">
            <a:avLst/>
          </a:prstGeom>
          <a:noFill/>
          <a:ln/>
        </p:spPr>
        <p:txBody>
          <a:bodyPr wrap="square" rtlCol="0" anchor="ctr"/>
          <a:lstStyle/>
          <a:p>
            <a:pPr indent="0" marL="0">
              <a:buNone/>
            </a:pPr>
            <a:r>
              <a:rPr lang="en-US" sz="1200" b="1" dirty="0">
                <a:solidFill>
                  <a:srgbClr val="8A81A6"/>
                </a:solidFill>
                <a:latin typeface="Calibri" pitchFamily="34" charset="0"/>
                <a:ea typeface="Calibri" pitchFamily="34" charset="-122"/>
                <a:cs typeface="Calibri" pitchFamily="34" charset="-120"/>
              </a:rPr>
              <a:t>Built For</a:t>
            </a:r>
            <a:endParaRPr lang="en-US" sz="1200" dirty="0"/>
          </a:p>
        </p:txBody>
      </p:sp>
      <p:sp>
        <p:nvSpPr>
          <p:cNvPr id="14" name="Shape 12"/>
          <p:cNvSpPr/>
          <p:nvPr/>
        </p:nvSpPr>
        <p:spPr>
          <a:xfrm>
            <a:off x="6629400" y="4663440"/>
            <a:ext cx="2551176" cy="384048"/>
          </a:xfrm>
          <a:prstGeom prst="roundRect">
            <a:avLst>
              <a:gd name="adj" fmla="val 50000"/>
            </a:avLst>
          </a:prstGeom>
          <a:solidFill>
            <a:srgbClr val="1F1836"/>
          </a:solidFill>
          <a:ln/>
        </p:spPr>
      </p:sp>
      <p:sp>
        <p:nvSpPr>
          <p:cNvPr id="15" name="Text 13"/>
          <p:cNvSpPr/>
          <p:nvPr/>
        </p:nvSpPr>
        <p:spPr>
          <a:xfrm>
            <a:off x="6629400" y="4663440"/>
            <a:ext cx="2551176" cy="384048"/>
          </a:xfrm>
          <a:prstGeom prst="rect">
            <a:avLst/>
          </a:prstGeom>
          <a:noFill/>
          <a:ln/>
        </p:spPr>
        <p:txBody>
          <a:bodyPr wrap="square" lIns="0" tIns="0" rIns="0" bIns="0" rtlCol="0" anchor="ctr"/>
          <a:lstStyle/>
          <a:p>
            <a:pPr algn="ctr" indent="0" marL="0">
              <a:buNone/>
            </a:pPr>
            <a:r>
              <a:rPr lang="en-US" sz="1100" b="1" dirty="0">
                <a:solidFill>
                  <a:srgbClr val="F0ABFC"/>
                </a:solidFill>
                <a:latin typeface="Calibri" pitchFamily="34" charset="0"/>
                <a:ea typeface="Calibri" pitchFamily="34" charset="-122"/>
                <a:cs typeface="Calibri" pitchFamily="34" charset="-120"/>
              </a:rPr>
              <a:t>Content Creators</a:t>
            </a:r>
            <a:endParaRPr lang="en-US" sz="1100" dirty="0"/>
          </a:p>
        </p:txBody>
      </p:sp>
      <p:sp>
        <p:nvSpPr>
          <p:cNvPr id="16" name="Shape 14"/>
          <p:cNvSpPr/>
          <p:nvPr/>
        </p:nvSpPr>
        <p:spPr>
          <a:xfrm>
            <a:off x="9345168" y="4663440"/>
            <a:ext cx="1527048" cy="384048"/>
          </a:xfrm>
          <a:prstGeom prst="roundRect">
            <a:avLst>
              <a:gd name="adj" fmla="val 50000"/>
            </a:avLst>
          </a:prstGeom>
          <a:solidFill>
            <a:srgbClr val="1F1836"/>
          </a:solidFill>
          <a:ln/>
        </p:spPr>
      </p:sp>
      <p:sp>
        <p:nvSpPr>
          <p:cNvPr id="17" name="Text 15"/>
          <p:cNvSpPr/>
          <p:nvPr/>
        </p:nvSpPr>
        <p:spPr>
          <a:xfrm>
            <a:off x="9345168" y="4663440"/>
            <a:ext cx="1527048" cy="384048"/>
          </a:xfrm>
          <a:prstGeom prst="rect">
            <a:avLst/>
          </a:prstGeom>
          <a:noFill/>
          <a:ln/>
        </p:spPr>
        <p:txBody>
          <a:bodyPr wrap="square" lIns="0" tIns="0" rIns="0" bIns="0" rtlCol="0" anchor="ctr"/>
          <a:lstStyle/>
          <a:p>
            <a:pPr algn="ctr" indent="0" marL="0">
              <a:buNone/>
            </a:pPr>
            <a:r>
              <a:rPr lang="en-US" sz="1100" b="1" dirty="0">
                <a:solidFill>
                  <a:srgbClr val="F0ABFC"/>
                </a:solidFill>
                <a:latin typeface="Calibri" pitchFamily="34" charset="0"/>
                <a:ea typeface="Calibri" pitchFamily="34" charset="-122"/>
                <a:cs typeface="Calibri" pitchFamily="34" charset="-120"/>
              </a:rPr>
              <a:t>Students</a:t>
            </a:r>
            <a:endParaRPr lang="en-US" sz="1100" dirty="0"/>
          </a:p>
        </p:txBody>
      </p:sp>
      <p:sp>
        <p:nvSpPr>
          <p:cNvPr id="18" name="Shape 16"/>
          <p:cNvSpPr/>
          <p:nvPr/>
        </p:nvSpPr>
        <p:spPr>
          <a:xfrm>
            <a:off x="6629400" y="5166360"/>
            <a:ext cx="1655064" cy="384048"/>
          </a:xfrm>
          <a:prstGeom prst="roundRect">
            <a:avLst>
              <a:gd name="adj" fmla="val 50000"/>
            </a:avLst>
          </a:prstGeom>
          <a:solidFill>
            <a:srgbClr val="1F1836"/>
          </a:solidFill>
          <a:ln/>
        </p:spPr>
      </p:sp>
      <p:sp>
        <p:nvSpPr>
          <p:cNvPr id="19" name="Text 17"/>
          <p:cNvSpPr/>
          <p:nvPr/>
        </p:nvSpPr>
        <p:spPr>
          <a:xfrm>
            <a:off x="6629400" y="5166360"/>
            <a:ext cx="1655064" cy="384048"/>
          </a:xfrm>
          <a:prstGeom prst="rect">
            <a:avLst/>
          </a:prstGeom>
          <a:noFill/>
          <a:ln/>
        </p:spPr>
        <p:txBody>
          <a:bodyPr wrap="square" lIns="0" tIns="0" rIns="0" bIns="0" rtlCol="0" anchor="ctr"/>
          <a:lstStyle/>
          <a:p>
            <a:pPr algn="ctr" indent="0" marL="0">
              <a:buNone/>
            </a:pPr>
            <a:r>
              <a:rPr lang="en-US" sz="1100" b="1" dirty="0">
                <a:solidFill>
                  <a:srgbClr val="F0ABFC"/>
                </a:solidFill>
                <a:latin typeface="Calibri" pitchFamily="34" charset="0"/>
                <a:ea typeface="Calibri" pitchFamily="34" charset="-122"/>
                <a:cs typeface="Calibri" pitchFamily="34" charset="-120"/>
              </a:rPr>
              <a:t>Educators</a:t>
            </a:r>
            <a:endParaRPr lang="en-US" sz="1100" dirty="0"/>
          </a:p>
        </p:txBody>
      </p:sp>
      <p:sp>
        <p:nvSpPr>
          <p:cNvPr id="20" name="Shape 18"/>
          <p:cNvSpPr/>
          <p:nvPr/>
        </p:nvSpPr>
        <p:spPr>
          <a:xfrm>
            <a:off x="8449056" y="5166360"/>
            <a:ext cx="1783080" cy="384048"/>
          </a:xfrm>
          <a:prstGeom prst="roundRect">
            <a:avLst>
              <a:gd name="adj" fmla="val 50000"/>
            </a:avLst>
          </a:prstGeom>
          <a:solidFill>
            <a:srgbClr val="1F1836"/>
          </a:solidFill>
          <a:ln/>
        </p:spPr>
      </p:sp>
      <p:sp>
        <p:nvSpPr>
          <p:cNvPr id="21" name="Text 19"/>
          <p:cNvSpPr/>
          <p:nvPr/>
        </p:nvSpPr>
        <p:spPr>
          <a:xfrm>
            <a:off x="8449056" y="5166360"/>
            <a:ext cx="1783080" cy="384048"/>
          </a:xfrm>
          <a:prstGeom prst="rect">
            <a:avLst/>
          </a:prstGeom>
          <a:noFill/>
          <a:ln/>
        </p:spPr>
        <p:txBody>
          <a:bodyPr wrap="square" lIns="0" tIns="0" rIns="0" bIns="0" rtlCol="0" anchor="ctr"/>
          <a:lstStyle/>
          <a:p>
            <a:pPr algn="ctr" indent="0" marL="0">
              <a:buNone/>
            </a:pPr>
            <a:r>
              <a:rPr lang="en-US" sz="1100" b="1" dirty="0">
                <a:solidFill>
                  <a:srgbClr val="F0ABFC"/>
                </a:solidFill>
                <a:latin typeface="Calibri" pitchFamily="34" charset="0"/>
                <a:ea typeface="Calibri" pitchFamily="34" charset="-122"/>
                <a:cs typeface="Calibri" pitchFamily="34" charset="-120"/>
              </a:rPr>
              <a:t>Businesses</a:t>
            </a:r>
            <a:endParaRPr lang="en-US" sz="1100" dirty="0"/>
          </a:p>
        </p:txBody>
      </p:sp>
      <p:sp>
        <p:nvSpPr>
          <p:cNvPr id="22" name="Shape 20"/>
          <p:cNvSpPr/>
          <p:nvPr/>
        </p:nvSpPr>
        <p:spPr>
          <a:xfrm>
            <a:off x="6629400" y="5669280"/>
            <a:ext cx="1911096" cy="384048"/>
          </a:xfrm>
          <a:prstGeom prst="roundRect">
            <a:avLst>
              <a:gd name="adj" fmla="val 50000"/>
            </a:avLst>
          </a:prstGeom>
          <a:solidFill>
            <a:srgbClr val="1F1836"/>
          </a:solidFill>
          <a:ln/>
        </p:spPr>
      </p:sp>
      <p:sp>
        <p:nvSpPr>
          <p:cNvPr id="23" name="Text 21"/>
          <p:cNvSpPr/>
          <p:nvPr/>
        </p:nvSpPr>
        <p:spPr>
          <a:xfrm>
            <a:off x="6629400" y="5669280"/>
            <a:ext cx="1911096" cy="384048"/>
          </a:xfrm>
          <a:prstGeom prst="rect">
            <a:avLst/>
          </a:prstGeom>
          <a:noFill/>
          <a:ln/>
        </p:spPr>
        <p:txBody>
          <a:bodyPr wrap="square" lIns="0" tIns="0" rIns="0" bIns="0" rtlCol="0" anchor="ctr"/>
          <a:lstStyle/>
          <a:p>
            <a:pPr algn="ctr" indent="0" marL="0">
              <a:buNone/>
            </a:pPr>
            <a:r>
              <a:rPr lang="en-US" sz="1100" b="1" dirty="0">
                <a:solidFill>
                  <a:srgbClr val="F0ABFC"/>
                </a:solidFill>
                <a:latin typeface="Calibri" pitchFamily="34" charset="0"/>
                <a:ea typeface="Calibri" pitchFamily="34" charset="-122"/>
                <a:cs typeface="Calibri" pitchFamily="34" charset="-120"/>
              </a:rPr>
              <a:t>Researchers</a:t>
            </a:r>
            <a:endParaRPr lang="en-US" sz="1100" dirty="0"/>
          </a:p>
        </p:txBody>
      </p:sp>
      <p:sp>
        <p:nvSpPr>
          <p:cNvPr id="24" name="Text 22"/>
          <p:cNvSpPr/>
          <p:nvPr/>
        </p:nvSpPr>
        <p:spPr>
          <a:xfrm>
            <a:off x="457200" y="6473952"/>
            <a:ext cx="4572000" cy="274320"/>
          </a:xfrm>
          <a:prstGeom prst="rect">
            <a:avLst/>
          </a:prstGeom>
          <a:noFill/>
          <a:ln/>
        </p:spPr>
        <p:txBody>
          <a:bodyPr wrap="square" lIns="0" tIns="0" rIns="0" bIns="0" rtlCol="0" anchor="ctr"/>
          <a:lstStyle/>
          <a:p>
            <a:pPr algn="l" indent="0" marL="0">
              <a:buNone/>
            </a:pPr>
            <a:r>
              <a:rPr lang="en-US" sz="900" dirty="0">
                <a:solidFill>
                  <a:srgbClr val="8A81A6"/>
                </a:solidFill>
                <a:latin typeface="Calibri" pitchFamily="34" charset="0"/>
                <a:ea typeface="Calibri" pitchFamily="34" charset="-122"/>
                <a:cs typeface="Calibri" pitchFamily="34" charset="-120"/>
              </a:rPr>
              <a:t>ClipMind AI  •  Milestone 1</a:t>
            </a:r>
            <a:endParaRPr lang="en-US" sz="900" dirty="0"/>
          </a:p>
        </p:txBody>
      </p:sp>
      <p:sp>
        <p:nvSpPr>
          <p:cNvPr id="25" name="Text 2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8A81A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A16"/>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System Architecture &amp; Tech Stack</a:t>
            </a:r>
            <a:endParaRPr lang="en-US" sz="3000" dirty="0"/>
          </a:p>
        </p:txBody>
      </p:sp>
      <p:sp>
        <p:nvSpPr>
          <p:cNvPr id="3" name="Text 1"/>
          <p:cNvSpPr/>
          <p:nvPr/>
        </p:nvSpPr>
        <p:spPr>
          <a:xfrm>
            <a:off x="548640" y="960120"/>
            <a:ext cx="7315200" cy="365760"/>
          </a:xfrm>
          <a:prstGeom prst="rect">
            <a:avLst/>
          </a:prstGeom>
          <a:noFill/>
          <a:ln/>
        </p:spPr>
        <p:txBody>
          <a:bodyPr wrap="square" rtlCol="0" anchor="ctr"/>
          <a:lstStyle/>
          <a:p>
            <a:pPr indent="0" marL="0">
              <a:buNone/>
            </a:pPr>
            <a:r>
              <a:rPr lang="en-US" sz="1300" i="1" dirty="0">
                <a:solidFill>
                  <a:srgbClr val="8A81A6"/>
                </a:solidFill>
                <a:latin typeface="Calibri" pitchFamily="34" charset="0"/>
                <a:ea typeface="Calibri" pitchFamily="34" charset="-122"/>
                <a:cs typeface="Calibri" pitchFamily="34" charset="-120"/>
              </a:rPr>
              <a:t>Full target architecture (design phase, Week 1)</a:t>
            </a:r>
            <a:endParaRPr lang="en-US" sz="1300" dirty="0"/>
          </a:p>
        </p:txBody>
      </p:sp>
      <p:sp>
        <p:nvSpPr>
          <p:cNvPr id="4" name="Shape 2"/>
          <p:cNvSpPr/>
          <p:nvPr/>
        </p:nvSpPr>
        <p:spPr>
          <a:xfrm>
            <a:off x="502920" y="1417320"/>
            <a:ext cx="6903720" cy="4709160"/>
          </a:xfrm>
          <a:prstGeom prst="roundRect">
            <a:avLst>
              <a:gd name="adj" fmla="val 1942"/>
            </a:avLst>
          </a:prstGeom>
          <a:solidFill>
            <a:srgbClr val="FFFFFF"/>
          </a:solidFill>
          <a:ln/>
          <a:effectLst>
            <a:outerShdw sx="100000" sy="100000" kx="0" ky="0" algn="bl" rotWithShape="0" blurRad="127000" dist="50800" dir="5400000">
              <a:srgbClr val="000000">
                <a:alpha val="40000"/>
              </a:srgbClr>
            </a:outerShdw>
          </a:effectLst>
        </p:spPr>
      </p:sp>
      <p:pic>
        <p:nvPicPr>
          <p:cNvPr id="5" name="Image 0" descr="D:\me\intern\infosys-ai\imgs\arch-000.png">    </p:cNvPr>
          <p:cNvPicPr>
            <a:picLocks noChangeAspect="1"/>
          </p:cNvPicPr>
          <p:nvPr/>
        </p:nvPicPr>
        <p:blipFill>
          <a:blip r:embed="rId1"/>
          <a:stretch>
            <a:fillRect/>
          </a:stretch>
        </p:blipFill>
        <p:spPr>
          <a:xfrm>
            <a:off x="658368" y="1600200"/>
            <a:ext cx="6592824" cy="4453128"/>
          </a:xfrm>
          <a:prstGeom prst="rect">
            <a:avLst/>
          </a:prstGeom>
        </p:spPr>
      </p:pic>
      <p:sp>
        <p:nvSpPr>
          <p:cNvPr id="6" name="Text 3"/>
          <p:cNvSpPr/>
          <p:nvPr/>
        </p:nvSpPr>
        <p:spPr>
          <a:xfrm>
            <a:off x="7726680" y="1417320"/>
            <a:ext cx="3931920" cy="365760"/>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Milestone 1 — Live Stack</a:t>
            </a:r>
            <a:endParaRPr lang="en-US" sz="1600" dirty="0"/>
          </a:p>
        </p:txBody>
      </p:sp>
      <p:sp>
        <p:nvSpPr>
          <p:cNvPr id="7" name="Shape 4"/>
          <p:cNvSpPr/>
          <p:nvPr/>
        </p:nvSpPr>
        <p:spPr>
          <a:xfrm>
            <a:off x="7726680" y="1920240"/>
            <a:ext cx="3931920" cy="658368"/>
          </a:xfrm>
          <a:prstGeom prst="roundRect">
            <a:avLst>
              <a:gd name="adj" fmla="val 12500"/>
            </a:avLst>
          </a:prstGeom>
          <a:solidFill>
            <a:srgbClr val="18122B"/>
          </a:solidFill>
          <a:ln/>
        </p:spPr>
      </p:sp>
      <p:sp>
        <p:nvSpPr>
          <p:cNvPr id="8" name="Shape 5"/>
          <p:cNvSpPr/>
          <p:nvPr/>
        </p:nvSpPr>
        <p:spPr>
          <a:xfrm>
            <a:off x="7863840" y="2057400"/>
            <a:ext cx="73152" cy="384048"/>
          </a:xfrm>
          <a:prstGeom prst="roundRect">
            <a:avLst/>
          </a:prstGeom>
          <a:solidFill>
            <a:srgbClr val="7C3AED"/>
          </a:solidFill>
          <a:ln/>
        </p:spPr>
      </p:sp>
      <p:sp>
        <p:nvSpPr>
          <p:cNvPr id="9" name="Text 6"/>
          <p:cNvSpPr/>
          <p:nvPr/>
        </p:nvSpPr>
        <p:spPr>
          <a:xfrm>
            <a:off x="8046720" y="1975104"/>
            <a:ext cx="3474720" cy="274320"/>
          </a:xfrm>
          <a:prstGeom prst="rect">
            <a:avLst/>
          </a:prstGeom>
          <a:noFill/>
          <a:ln/>
        </p:spPr>
        <p:txBody>
          <a:bodyPr wrap="square" rtlCol="0" anchor="ctr"/>
          <a:lstStyle/>
          <a:p>
            <a:pPr indent="0" marL="0">
              <a:buNone/>
            </a:pPr>
            <a:r>
              <a:rPr lang="en-US" sz="1100" b="1" dirty="0">
                <a:solidFill>
                  <a:srgbClr val="8A81A6"/>
                </a:solidFill>
                <a:latin typeface="Calibri" pitchFamily="34" charset="0"/>
                <a:ea typeface="Calibri" pitchFamily="34" charset="-122"/>
                <a:cs typeface="Calibri" pitchFamily="34" charset="-120"/>
              </a:rPr>
              <a:t>Frontend</a:t>
            </a:r>
            <a:endParaRPr lang="en-US" sz="1100" dirty="0"/>
          </a:p>
        </p:txBody>
      </p:sp>
      <p:sp>
        <p:nvSpPr>
          <p:cNvPr id="10" name="Text 7"/>
          <p:cNvSpPr/>
          <p:nvPr/>
        </p:nvSpPr>
        <p:spPr>
          <a:xfrm>
            <a:off x="8046720" y="2212848"/>
            <a:ext cx="3474720" cy="310896"/>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Next.js (React)</a:t>
            </a:r>
            <a:endParaRPr lang="en-US" sz="1300" dirty="0"/>
          </a:p>
        </p:txBody>
      </p:sp>
      <p:sp>
        <p:nvSpPr>
          <p:cNvPr id="11" name="Shape 8"/>
          <p:cNvSpPr/>
          <p:nvPr/>
        </p:nvSpPr>
        <p:spPr>
          <a:xfrm>
            <a:off x="7726680" y="2697480"/>
            <a:ext cx="3931920" cy="658368"/>
          </a:xfrm>
          <a:prstGeom prst="roundRect">
            <a:avLst>
              <a:gd name="adj" fmla="val 12500"/>
            </a:avLst>
          </a:prstGeom>
          <a:solidFill>
            <a:srgbClr val="18122B"/>
          </a:solidFill>
          <a:ln/>
        </p:spPr>
      </p:sp>
      <p:sp>
        <p:nvSpPr>
          <p:cNvPr id="12" name="Shape 9"/>
          <p:cNvSpPr/>
          <p:nvPr/>
        </p:nvSpPr>
        <p:spPr>
          <a:xfrm>
            <a:off x="7863840" y="2834640"/>
            <a:ext cx="73152" cy="384048"/>
          </a:xfrm>
          <a:prstGeom prst="roundRect">
            <a:avLst/>
          </a:prstGeom>
          <a:solidFill>
            <a:srgbClr val="7C3AED"/>
          </a:solidFill>
          <a:ln/>
        </p:spPr>
      </p:sp>
      <p:sp>
        <p:nvSpPr>
          <p:cNvPr id="13" name="Text 10"/>
          <p:cNvSpPr/>
          <p:nvPr/>
        </p:nvSpPr>
        <p:spPr>
          <a:xfrm>
            <a:off x="8046720" y="2752344"/>
            <a:ext cx="3474720" cy="274320"/>
          </a:xfrm>
          <a:prstGeom prst="rect">
            <a:avLst/>
          </a:prstGeom>
          <a:noFill/>
          <a:ln/>
        </p:spPr>
        <p:txBody>
          <a:bodyPr wrap="square" rtlCol="0" anchor="ctr"/>
          <a:lstStyle/>
          <a:p>
            <a:pPr indent="0" marL="0">
              <a:buNone/>
            </a:pPr>
            <a:r>
              <a:rPr lang="en-US" sz="1100" b="1" dirty="0">
                <a:solidFill>
                  <a:srgbClr val="8A81A6"/>
                </a:solidFill>
                <a:latin typeface="Calibri" pitchFamily="34" charset="0"/>
                <a:ea typeface="Calibri" pitchFamily="34" charset="-122"/>
                <a:cs typeface="Calibri" pitchFamily="34" charset="-120"/>
              </a:rPr>
              <a:t>Backend</a:t>
            </a:r>
            <a:endParaRPr lang="en-US" sz="1100" dirty="0"/>
          </a:p>
        </p:txBody>
      </p:sp>
      <p:sp>
        <p:nvSpPr>
          <p:cNvPr id="14" name="Text 11"/>
          <p:cNvSpPr/>
          <p:nvPr/>
        </p:nvSpPr>
        <p:spPr>
          <a:xfrm>
            <a:off x="8046720" y="2990088"/>
            <a:ext cx="3474720" cy="310896"/>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FastAPI (Python)</a:t>
            </a:r>
            <a:endParaRPr lang="en-US" sz="1300" dirty="0"/>
          </a:p>
        </p:txBody>
      </p:sp>
      <p:sp>
        <p:nvSpPr>
          <p:cNvPr id="15" name="Shape 12"/>
          <p:cNvSpPr/>
          <p:nvPr/>
        </p:nvSpPr>
        <p:spPr>
          <a:xfrm>
            <a:off x="7726680" y="3474720"/>
            <a:ext cx="3931920" cy="658368"/>
          </a:xfrm>
          <a:prstGeom prst="roundRect">
            <a:avLst>
              <a:gd name="adj" fmla="val 12500"/>
            </a:avLst>
          </a:prstGeom>
          <a:solidFill>
            <a:srgbClr val="18122B"/>
          </a:solidFill>
          <a:ln/>
        </p:spPr>
      </p:sp>
      <p:sp>
        <p:nvSpPr>
          <p:cNvPr id="16" name="Shape 13"/>
          <p:cNvSpPr/>
          <p:nvPr/>
        </p:nvSpPr>
        <p:spPr>
          <a:xfrm>
            <a:off x="7863840" y="3611880"/>
            <a:ext cx="73152" cy="384048"/>
          </a:xfrm>
          <a:prstGeom prst="roundRect">
            <a:avLst/>
          </a:prstGeom>
          <a:solidFill>
            <a:srgbClr val="7C3AED"/>
          </a:solidFill>
          <a:ln/>
        </p:spPr>
      </p:sp>
      <p:sp>
        <p:nvSpPr>
          <p:cNvPr id="17" name="Text 14"/>
          <p:cNvSpPr/>
          <p:nvPr/>
        </p:nvSpPr>
        <p:spPr>
          <a:xfrm>
            <a:off x="8046720" y="3529584"/>
            <a:ext cx="3474720" cy="274320"/>
          </a:xfrm>
          <a:prstGeom prst="rect">
            <a:avLst/>
          </a:prstGeom>
          <a:noFill/>
          <a:ln/>
        </p:spPr>
        <p:txBody>
          <a:bodyPr wrap="square" rtlCol="0" anchor="ctr"/>
          <a:lstStyle/>
          <a:p>
            <a:pPr indent="0" marL="0">
              <a:buNone/>
            </a:pPr>
            <a:r>
              <a:rPr lang="en-US" sz="1100" b="1" dirty="0">
                <a:solidFill>
                  <a:srgbClr val="8A81A6"/>
                </a:solidFill>
                <a:latin typeface="Calibri" pitchFamily="34" charset="0"/>
                <a:ea typeface="Calibri" pitchFamily="34" charset="-122"/>
                <a:cs typeface="Calibri" pitchFamily="34" charset="-120"/>
              </a:rPr>
              <a:t>Database</a:t>
            </a:r>
            <a:endParaRPr lang="en-US" sz="1100" dirty="0"/>
          </a:p>
        </p:txBody>
      </p:sp>
      <p:sp>
        <p:nvSpPr>
          <p:cNvPr id="18" name="Text 15"/>
          <p:cNvSpPr/>
          <p:nvPr/>
        </p:nvSpPr>
        <p:spPr>
          <a:xfrm>
            <a:off x="8046720" y="3767328"/>
            <a:ext cx="3474720" cy="310896"/>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PostgreSQL + SQLAlchemy ORM</a:t>
            </a:r>
            <a:endParaRPr lang="en-US" sz="1300" dirty="0"/>
          </a:p>
        </p:txBody>
      </p:sp>
      <p:sp>
        <p:nvSpPr>
          <p:cNvPr id="19" name="Shape 16"/>
          <p:cNvSpPr/>
          <p:nvPr/>
        </p:nvSpPr>
        <p:spPr>
          <a:xfrm>
            <a:off x="7726680" y="4251960"/>
            <a:ext cx="3931920" cy="658368"/>
          </a:xfrm>
          <a:prstGeom prst="roundRect">
            <a:avLst>
              <a:gd name="adj" fmla="val 12500"/>
            </a:avLst>
          </a:prstGeom>
          <a:solidFill>
            <a:srgbClr val="18122B"/>
          </a:solidFill>
          <a:ln/>
        </p:spPr>
      </p:sp>
      <p:sp>
        <p:nvSpPr>
          <p:cNvPr id="20" name="Shape 17"/>
          <p:cNvSpPr/>
          <p:nvPr/>
        </p:nvSpPr>
        <p:spPr>
          <a:xfrm>
            <a:off x="7863840" y="4389120"/>
            <a:ext cx="73152" cy="384048"/>
          </a:xfrm>
          <a:prstGeom prst="roundRect">
            <a:avLst/>
          </a:prstGeom>
          <a:solidFill>
            <a:srgbClr val="7C3AED"/>
          </a:solidFill>
          <a:ln/>
        </p:spPr>
      </p:sp>
      <p:sp>
        <p:nvSpPr>
          <p:cNvPr id="21" name="Text 18"/>
          <p:cNvSpPr/>
          <p:nvPr/>
        </p:nvSpPr>
        <p:spPr>
          <a:xfrm>
            <a:off x="8046720" y="4306824"/>
            <a:ext cx="3474720" cy="274320"/>
          </a:xfrm>
          <a:prstGeom prst="rect">
            <a:avLst/>
          </a:prstGeom>
          <a:noFill/>
          <a:ln/>
        </p:spPr>
        <p:txBody>
          <a:bodyPr wrap="square" rtlCol="0" anchor="ctr"/>
          <a:lstStyle/>
          <a:p>
            <a:pPr indent="0" marL="0">
              <a:buNone/>
            </a:pPr>
            <a:r>
              <a:rPr lang="en-US" sz="1100" b="1" dirty="0">
                <a:solidFill>
                  <a:srgbClr val="8A81A6"/>
                </a:solidFill>
                <a:latin typeface="Calibri" pitchFamily="34" charset="0"/>
                <a:ea typeface="Calibri" pitchFamily="34" charset="-122"/>
                <a:cs typeface="Calibri" pitchFamily="34" charset="-120"/>
              </a:rPr>
              <a:t>Media Tooling</a:t>
            </a:r>
            <a:endParaRPr lang="en-US" sz="1100" dirty="0"/>
          </a:p>
        </p:txBody>
      </p:sp>
      <p:sp>
        <p:nvSpPr>
          <p:cNvPr id="22" name="Text 19"/>
          <p:cNvSpPr/>
          <p:nvPr/>
        </p:nvSpPr>
        <p:spPr>
          <a:xfrm>
            <a:off x="8046720" y="4544568"/>
            <a:ext cx="3474720" cy="310896"/>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FFmpeg (thumbnails)</a:t>
            </a:r>
            <a:endParaRPr lang="en-US" sz="1300" dirty="0"/>
          </a:p>
        </p:txBody>
      </p:sp>
      <p:sp>
        <p:nvSpPr>
          <p:cNvPr id="23" name="Shape 20"/>
          <p:cNvSpPr/>
          <p:nvPr/>
        </p:nvSpPr>
        <p:spPr>
          <a:xfrm>
            <a:off x="7726680" y="5029200"/>
            <a:ext cx="3931920" cy="658368"/>
          </a:xfrm>
          <a:prstGeom prst="roundRect">
            <a:avLst>
              <a:gd name="adj" fmla="val 12500"/>
            </a:avLst>
          </a:prstGeom>
          <a:solidFill>
            <a:srgbClr val="18122B"/>
          </a:solidFill>
          <a:ln/>
        </p:spPr>
      </p:sp>
      <p:sp>
        <p:nvSpPr>
          <p:cNvPr id="24" name="Shape 21"/>
          <p:cNvSpPr/>
          <p:nvPr/>
        </p:nvSpPr>
        <p:spPr>
          <a:xfrm>
            <a:off x="7863840" y="5166360"/>
            <a:ext cx="73152" cy="384048"/>
          </a:xfrm>
          <a:prstGeom prst="roundRect">
            <a:avLst/>
          </a:prstGeom>
          <a:solidFill>
            <a:srgbClr val="7C3AED"/>
          </a:solidFill>
          <a:ln/>
        </p:spPr>
      </p:sp>
      <p:sp>
        <p:nvSpPr>
          <p:cNvPr id="25" name="Text 22"/>
          <p:cNvSpPr/>
          <p:nvPr/>
        </p:nvSpPr>
        <p:spPr>
          <a:xfrm>
            <a:off x="8046720" y="5084064"/>
            <a:ext cx="3474720" cy="274320"/>
          </a:xfrm>
          <a:prstGeom prst="rect">
            <a:avLst/>
          </a:prstGeom>
          <a:noFill/>
          <a:ln/>
        </p:spPr>
        <p:txBody>
          <a:bodyPr wrap="square" rtlCol="0" anchor="ctr"/>
          <a:lstStyle/>
          <a:p>
            <a:pPr indent="0" marL="0">
              <a:buNone/>
            </a:pPr>
            <a:r>
              <a:rPr lang="en-US" sz="1100" b="1" dirty="0">
                <a:solidFill>
                  <a:srgbClr val="8A81A6"/>
                </a:solidFill>
                <a:latin typeface="Calibri" pitchFamily="34" charset="0"/>
                <a:ea typeface="Calibri" pitchFamily="34" charset="-122"/>
                <a:cs typeface="Calibri" pitchFamily="34" charset="-120"/>
              </a:rPr>
              <a:t>Auth</a:t>
            </a:r>
            <a:endParaRPr lang="en-US" sz="1100" dirty="0"/>
          </a:p>
        </p:txBody>
      </p:sp>
      <p:sp>
        <p:nvSpPr>
          <p:cNvPr id="26" name="Text 23"/>
          <p:cNvSpPr/>
          <p:nvPr/>
        </p:nvSpPr>
        <p:spPr>
          <a:xfrm>
            <a:off x="8046720" y="5321808"/>
            <a:ext cx="3474720" cy="310896"/>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JWT-based, role-aware</a:t>
            </a:r>
            <a:endParaRPr lang="en-US" sz="1300" dirty="0"/>
          </a:p>
        </p:txBody>
      </p:sp>
      <p:sp>
        <p:nvSpPr>
          <p:cNvPr id="27" name="Shape 24"/>
          <p:cNvSpPr/>
          <p:nvPr/>
        </p:nvSpPr>
        <p:spPr>
          <a:xfrm>
            <a:off x="7726680" y="5806440"/>
            <a:ext cx="3931920" cy="658368"/>
          </a:xfrm>
          <a:prstGeom prst="roundRect">
            <a:avLst>
              <a:gd name="adj" fmla="val 12500"/>
            </a:avLst>
          </a:prstGeom>
          <a:solidFill>
            <a:srgbClr val="18122B"/>
          </a:solidFill>
          <a:ln/>
        </p:spPr>
      </p:sp>
      <p:sp>
        <p:nvSpPr>
          <p:cNvPr id="28" name="Shape 25"/>
          <p:cNvSpPr/>
          <p:nvPr/>
        </p:nvSpPr>
        <p:spPr>
          <a:xfrm>
            <a:off x="7863840" y="5943600"/>
            <a:ext cx="73152" cy="384048"/>
          </a:xfrm>
          <a:prstGeom prst="roundRect">
            <a:avLst/>
          </a:prstGeom>
          <a:solidFill>
            <a:srgbClr val="D946EF"/>
          </a:solidFill>
          <a:ln/>
        </p:spPr>
      </p:sp>
      <p:sp>
        <p:nvSpPr>
          <p:cNvPr id="29" name="Text 26"/>
          <p:cNvSpPr/>
          <p:nvPr/>
        </p:nvSpPr>
        <p:spPr>
          <a:xfrm>
            <a:off x="8046720" y="5861304"/>
            <a:ext cx="3474720" cy="274320"/>
          </a:xfrm>
          <a:prstGeom prst="rect">
            <a:avLst/>
          </a:prstGeom>
          <a:noFill/>
          <a:ln/>
        </p:spPr>
        <p:txBody>
          <a:bodyPr wrap="square" rtlCol="0" anchor="ctr"/>
          <a:lstStyle/>
          <a:p>
            <a:pPr indent="0" marL="0">
              <a:buNone/>
            </a:pPr>
            <a:r>
              <a:rPr lang="en-US" sz="1100" b="1" dirty="0">
                <a:solidFill>
                  <a:srgbClr val="8A81A6"/>
                </a:solidFill>
                <a:latin typeface="Calibri" pitchFamily="34" charset="0"/>
                <a:ea typeface="Calibri" pitchFamily="34" charset="-122"/>
                <a:cs typeface="Calibri" pitchFamily="34" charset="-120"/>
              </a:rPr>
              <a:t>Deployment target</a:t>
            </a:r>
            <a:endParaRPr lang="en-US" sz="1100" dirty="0"/>
          </a:p>
        </p:txBody>
      </p:sp>
      <p:sp>
        <p:nvSpPr>
          <p:cNvPr id="30" name="Text 27"/>
          <p:cNvSpPr/>
          <p:nvPr/>
        </p:nvSpPr>
        <p:spPr>
          <a:xfrm>
            <a:off x="8046720" y="6099048"/>
            <a:ext cx="3474720" cy="310896"/>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Docker → AWS / Azure</a:t>
            </a:r>
            <a:endParaRPr lang="en-US" sz="1300" dirty="0"/>
          </a:p>
        </p:txBody>
      </p:sp>
      <p:sp>
        <p:nvSpPr>
          <p:cNvPr id="31" name="Text 28"/>
          <p:cNvSpPr/>
          <p:nvPr/>
        </p:nvSpPr>
        <p:spPr>
          <a:xfrm>
            <a:off x="457200" y="6473952"/>
            <a:ext cx="4572000" cy="274320"/>
          </a:xfrm>
          <a:prstGeom prst="rect">
            <a:avLst/>
          </a:prstGeom>
          <a:noFill/>
          <a:ln/>
        </p:spPr>
        <p:txBody>
          <a:bodyPr wrap="square" lIns="0" tIns="0" rIns="0" bIns="0" rtlCol="0" anchor="ctr"/>
          <a:lstStyle/>
          <a:p>
            <a:pPr algn="l" indent="0" marL="0">
              <a:buNone/>
            </a:pPr>
            <a:r>
              <a:rPr lang="en-US" sz="900" dirty="0">
                <a:solidFill>
                  <a:srgbClr val="8A81A6"/>
                </a:solidFill>
                <a:latin typeface="Calibri" pitchFamily="34" charset="0"/>
                <a:ea typeface="Calibri" pitchFamily="34" charset="-122"/>
                <a:cs typeface="Calibri" pitchFamily="34" charset="-120"/>
              </a:rPr>
              <a:t>ClipMind AI  •  Milestone 1</a:t>
            </a:r>
            <a:endParaRPr lang="en-US" sz="900" dirty="0"/>
          </a:p>
        </p:txBody>
      </p:sp>
      <p:sp>
        <p:nvSpPr>
          <p:cNvPr id="32" name="Text 2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8A81A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A16"/>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Database Schema &amp; ORM Automation</a:t>
            </a:r>
            <a:endParaRPr lang="en-US" sz="3000" dirty="0"/>
          </a:p>
        </p:txBody>
      </p:sp>
      <p:sp>
        <p:nvSpPr>
          <p:cNvPr id="3" name="Shape 1"/>
          <p:cNvSpPr/>
          <p:nvPr/>
        </p:nvSpPr>
        <p:spPr>
          <a:xfrm>
            <a:off x="548640" y="1417320"/>
            <a:ext cx="384048" cy="384048"/>
          </a:xfrm>
          <a:prstGeom prst="ellipse">
            <a:avLst/>
          </a:prstGeom>
          <a:solidFill>
            <a:srgbClr val="34D399"/>
          </a:solidFill>
          <a:ln/>
        </p:spPr>
      </p:sp>
      <p:sp>
        <p:nvSpPr>
          <p:cNvPr id="4" name="Text 2"/>
          <p:cNvSpPr/>
          <p:nvPr/>
        </p:nvSpPr>
        <p:spPr>
          <a:xfrm>
            <a:off x="548640" y="1417320"/>
            <a:ext cx="384048" cy="384048"/>
          </a:xfrm>
          <a:prstGeom prst="rect">
            <a:avLst/>
          </a:prstGeom>
          <a:noFill/>
          <a:ln/>
        </p:spPr>
        <p:txBody>
          <a:bodyPr wrap="square" lIns="0" tIns="0" rIns="0" bIns="0" rtlCol="0" anchor="ctr"/>
          <a:lstStyle/>
          <a:p>
            <a:pPr algn="ctr" indent="0" marL="0">
              <a:buNone/>
            </a:pPr>
            <a:r>
              <a:rPr lang="en-US" sz="1500" b="1" dirty="0">
                <a:solidFill>
                  <a:srgbClr val="0D0A16"/>
                </a:solidFill>
                <a:latin typeface="Calibri" pitchFamily="34" charset="0"/>
                <a:ea typeface="Calibri" pitchFamily="34" charset="-122"/>
                <a:cs typeface="Calibri" pitchFamily="34" charset="-120"/>
              </a:rPr>
              <a:t>✓</a:t>
            </a:r>
            <a:endParaRPr lang="en-US" sz="1500" dirty="0"/>
          </a:p>
        </p:txBody>
      </p:sp>
      <p:sp>
        <p:nvSpPr>
          <p:cNvPr id="5" name="Text 3"/>
          <p:cNvSpPr/>
          <p:nvPr/>
        </p:nvSpPr>
        <p:spPr>
          <a:xfrm>
            <a:off x="1097280" y="1380744"/>
            <a:ext cx="4480560" cy="292608"/>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Zero manual SQL</a:t>
            </a:r>
            <a:endParaRPr lang="en-US" sz="1450" dirty="0"/>
          </a:p>
        </p:txBody>
      </p:sp>
      <p:sp>
        <p:nvSpPr>
          <p:cNvPr id="6" name="Text 4"/>
          <p:cNvSpPr/>
          <p:nvPr/>
        </p:nvSpPr>
        <p:spPr>
          <a:xfrm>
            <a:off x="1097280" y="1673352"/>
            <a:ext cx="4480560" cy="640080"/>
          </a:xfrm>
          <a:prstGeom prst="rect">
            <a:avLst/>
          </a:prstGeom>
          <a:noFill/>
          <a:ln/>
        </p:spPr>
        <p:txBody>
          <a:bodyPr wrap="square" rtlCol="0" anchor="ctr"/>
          <a:lstStyle/>
          <a:p>
            <a:pPr indent="0" marL="0">
              <a:buNone/>
            </a:pPr>
            <a:r>
              <a:rPr lang="en-US" sz="1250" dirty="0">
                <a:solidFill>
                  <a:srgbClr val="B7AECF"/>
                </a:solidFill>
                <a:latin typeface="Calibri" pitchFamily="34" charset="0"/>
                <a:ea typeface="Calibri" pitchFamily="34" charset="-122"/>
                <a:cs typeface="Calibri" pitchFamily="34" charset="-120"/>
              </a:rPr>
              <a:t>SQLAlchemy models define Users &amp; Videos — tables auto-create on backend startup.</a:t>
            </a:r>
            <a:endParaRPr lang="en-US" sz="1250" dirty="0"/>
          </a:p>
        </p:txBody>
      </p:sp>
      <p:sp>
        <p:nvSpPr>
          <p:cNvPr id="7" name="Shape 5"/>
          <p:cNvSpPr/>
          <p:nvPr/>
        </p:nvSpPr>
        <p:spPr>
          <a:xfrm>
            <a:off x="548640" y="2496312"/>
            <a:ext cx="384048" cy="384048"/>
          </a:xfrm>
          <a:prstGeom prst="ellipse">
            <a:avLst/>
          </a:prstGeom>
          <a:solidFill>
            <a:srgbClr val="34D399"/>
          </a:solidFill>
          <a:ln/>
        </p:spPr>
      </p:sp>
      <p:sp>
        <p:nvSpPr>
          <p:cNvPr id="8" name="Text 6"/>
          <p:cNvSpPr/>
          <p:nvPr/>
        </p:nvSpPr>
        <p:spPr>
          <a:xfrm>
            <a:off x="548640" y="2496312"/>
            <a:ext cx="384048" cy="384048"/>
          </a:xfrm>
          <a:prstGeom prst="rect">
            <a:avLst/>
          </a:prstGeom>
          <a:noFill/>
          <a:ln/>
        </p:spPr>
        <p:txBody>
          <a:bodyPr wrap="square" lIns="0" tIns="0" rIns="0" bIns="0" rtlCol="0" anchor="ctr"/>
          <a:lstStyle/>
          <a:p>
            <a:pPr algn="ctr" indent="0" marL="0">
              <a:buNone/>
            </a:pPr>
            <a:r>
              <a:rPr lang="en-US" sz="1500" b="1" dirty="0">
                <a:solidFill>
                  <a:srgbClr val="0D0A16"/>
                </a:solidFill>
                <a:latin typeface="Calibri" pitchFamily="34" charset="0"/>
                <a:ea typeface="Calibri" pitchFamily="34" charset="-122"/>
                <a:cs typeface="Calibri" pitchFamily="34" charset="-120"/>
              </a:rPr>
              <a:t>✓</a:t>
            </a:r>
            <a:endParaRPr lang="en-US" sz="1500" dirty="0"/>
          </a:p>
        </p:txBody>
      </p:sp>
      <p:sp>
        <p:nvSpPr>
          <p:cNvPr id="9" name="Text 7"/>
          <p:cNvSpPr/>
          <p:nvPr/>
        </p:nvSpPr>
        <p:spPr>
          <a:xfrm>
            <a:off x="1097280" y="2459736"/>
            <a:ext cx="4480560" cy="292608"/>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Secure by default</a:t>
            </a:r>
            <a:endParaRPr lang="en-US" sz="1450" dirty="0"/>
          </a:p>
        </p:txBody>
      </p:sp>
      <p:sp>
        <p:nvSpPr>
          <p:cNvPr id="10" name="Text 8"/>
          <p:cNvSpPr/>
          <p:nvPr/>
        </p:nvSpPr>
        <p:spPr>
          <a:xfrm>
            <a:off x="1097280" y="2752344"/>
            <a:ext cx="4480560" cy="640080"/>
          </a:xfrm>
          <a:prstGeom prst="rect">
            <a:avLst/>
          </a:prstGeom>
          <a:noFill/>
          <a:ln/>
        </p:spPr>
        <p:txBody>
          <a:bodyPr wrap="square" rtlCol="0" anchor="ctr"/>
          <a:lstStyle/>
          <a:p>
            <a:pPr indent="0" marL="0">
              <a:buNone/>
            </a:pPr>
            <a:r>
              <a:rPr lang="en-US" sz="1250" dirty="0">
                <a:solidFill>
                  <a:srgbClr val="B7AECF"/>
                </a:solidFill>
                <a:latin typeface="Calibri" pitchFamily="34" charset="0"/>
                <a:ea typeface="Calibri" pitchFamily="34" charset="-122"/>
                <a:cs typeface="Calibri" pitchFamily="34" charset="-120"/>
              </a:rPr>
              <a:t>Passwords stored as bcrypt hashes, never plaintext.</a:t>
            </a:r>
            <a:endParaRPr lang="en-US" sz="1250" dirty="0"/>
          </a:p>
        </p:txBody>
      </p:sp>
      <p:sp>
        <p:nvSpPr>
          <p:cNvPr id="11" name="Shape 9"/>
          <p:cNvSpPr/>
          <p:nvPr/>
        </p:nvSpPr>
        <p:spPr>
          <a:xfrm>
            <a:off x="548640" y="3575304"/>
            <a:ext cx="384048" cy="384048"/>
          </a:xfrm>
          <a:prstGeom prst="ellipse">
            <a:avLst/>
          </a:prstGeom>
          <a:solidFill>
            <a:srgbClr val="34D399"/>
          </a:solidFill>
          <a:ln/>
        </p:spPr>
      </p:sp>
      <p:sp>
        <p:nvSpPr>
          <p:cNvPr id="12" name="Text 10"/>
          <p:cNvSpPr/>
          <p:nvPr/>
        </p:nvSpPr>
        <p:spPr>
          <a:xfrm>
            <a:off x="548640" y="3575304"/>
            <a:ext cx="384048" cy="384048"/>
          </a:xfrm>
          <a:prstGeom prst="rect">
            <a:avLst/>
          </a:prstGeom>
          <a:noFill/>
          <a:ln/>
        </p:spPr>
        <p:txBody>
          <a:bodyPr wrap="square" lIns="0" tIns="0" rIns="0" bIns="0" rtlCol="0" anchor="ctr"/>
          <a:lstStyle/>
          <a:p>
            <a:pPr algn="ctr" indent="0" marL="0">
              <a:buNone/>
            </a:pPr>
            <a:r>
              <a:rPr lang="en-US" sz="1500" b="1" dirty="0">
                <a:solidFill>
                  <a:srgbClr val="0D0A16"/>
                </a:solidFill>
                <a:latin typeface="Calibri" pitchFamily="34" charset="0"/>
                <a:ea typeface="Calibri" pitchFamily="34" charset="-122"/>
                <a:cs typeface="Calibri" pitchFamily="34" charset="-120"/>
              </a:rPr>
              <a:t>✓</a:t>
            </a:r>
            <a:endParaRPr lang="en-US" sz="1500" dirty="0"/>
          </a:p>
        </p:txBody>
      </p:sp>
      <p:sp>
        <p:nvSpPr>
          <p:cNvPr id="13" name="Text 11"/>
          <p:cNvSpPr/>
          <p:nvPr/>
        </p:nvSpPr>
        <p:spPr>
          <a:xfrm>
            <a:off x="1097280" y="3538728"/>
            <a:ext cx="4480560" cy="292608"/>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Role column drives RBAC</a:t>
            </a:r>
            <a:endParaRPr lang="en-US" sz="1450" dirty="0"/>
          </a:p>
        </p:txBody>
      </p:sp>
      <p:sp>
        <p:nvSpPr>
          <p:cNvPr id="14" name="Text 12"/>
          <p:cNvSpPr/>
          <p:nvPr/>
        </p:nvSpPr>
        <p:spPr>
          <a:xfrm>
            <a:off x="1097280" y="3831336"/>
            <a:ext cx="4480560" cy="640080"/>
          </a:xfrm>
          <a:prstGeom prst="rect">
            <a:avLst/>
          </a:prstGeom>
          <a:noFill/>
          <a:ln/>
        </p:spPr>
        <p:txBody>
          <a:bodyPr wrap="square" rtlCol="0" anchor="ctr"/>
          <a:lstStyle/>
          <a:p>
            <a:pPr indent="0" marL="0">
              <a:buNone/>
            </a:pPr>
            <a:r>
              <a:rPr lang="en-US" sz="1250" dirty="0">
                <a:solidFill>
                  <a:srgbClr val="B7AECF"/>
                </a:solidFill>
                <a:latin typeface="Calibri" pitchFamily="34" charset="0"/>
                <a:ea typeface="Calibri" pitchFamily="34" charset="-122"/>
                <a:cs typeface="Calibri" pitchFamily="34" charset="-120"/>
              </a:rPr>
              <a:t>administrator, learner, content_creator, educator — read directly off the users table.</a:t>
            </a:r>
            <a:endParaRPr lang="en-US" sz="1250" dirty="0"/>
          </a:p>
        </p:txBody>
      </p:sp>
      <p:sp>
        <p:nvSpPr>
          <p:cNvPr id="15" name="Shape 13"/>
          <p:cNvSpPr/>
          <p:nvPr/>
        </p:nvSpPr>
        <p:spPr>
          <a:xfrm>
            <a:off x="548640" y="4654296"/>
            <a:ext cx="384048" cy="384048"/>
          </a:xfrm>
          <a:prstGeom prst="ellipse">
            <a:avLst/>
          </a:prstGeom>
          <a:solidFill>
            <a:srgbClr val="34D399"/>
          </a:solidFill>
          <a:ln/>
        </p:spPr>
      </p:sp>
      <p:sp>
        <p:nvSpPr>
          <p:cNvPr id="16" name="Text 14"/>
          <p:cNvSpPr/>
          <p:nvPr/>
        </p:nvSpPr>
        <p:spPr>
          <a:xfrm>
            <a:off x="548640" y="4654296"/>
            <a:ext cx="384048" cy="384048"/>
          </a:xfrm>
          <a:prstGeom prst="rect">
            <a:avLst/>
          </a:prstGeom>
          <a:noFill/>
          <a:ln/>
        </p:spPr>
        <p:txBody>
          <a:bodyPr wrap="square" lIns="0" tIns="0" rIns="0" bIns="0" rtlCol="0" anchor="ctr"/>
          <a:lstStyle/>
          <a:p>
            <a:pPr algn="ctr" indent="0" marL="0">
              <a:buNone/>
            </a:pPr>
            <a:r>
              <a:rPr lang="en-US" sz="1500" b="1" dirty="0">
                <a:solidFill>
                  <a:srgbClr val="0D0A16"/>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1097280" y="4617720"/>
            <a:ext cx="4480560" cy="292608"/>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Two core tables (M1)</a:t>
            </a:r>
            <a:endParaRPr lang="en-US" sz="1450" dirty="0"/>
          </a:p>
        </p:txBody>
      </p:sp>
      <p:sp>
        <p:nvSpPr>
          <p:cNvPr id="18" name="Text 16"/>
          <p:cNvSpPr/>
          <p:nvPr/>
        </p:nvSpPr>
        <p:spPr>
          <a:xfrm>
            <a:off x="1097280" y="4910328"/>
            <a:ext cx="4480560" cy="640080"/>
          </a:xfrm>
          <a:prstGeom prst="rect">
            <a:avLst/>
          </a:prstGeom>
          <a:noFill/>
          <a:ln/>
        </p:spPr>
        <p:txBody>
          <a:bodyPr wrap="square" rtlCol="0" anchor="ctr"/>
          <a:lstStyle/>
          <a:p>
            <a:pPr indent="0" marL="0">
              <a:buNone/>
            </a:pPr>
            <a:r>
              <a:rPr lang="en-US" sz="1250" dirty="0">
                <a:solidFill>
                  <a:srgbClr val="B7AECF"/>
                </a:solidFill>
                <a:latin typeface="Calibri" pitchFamily="34" charset="0"/>
                <a:ea typeface="Calibri" pitchFamily="34" charset="-122"/>
                <a:cs typeface="Calibri" pitchFamily="34" charset="-120"/>
              </a:rPr>
              <a:t>users (identity + role) and videos (upload metadata + status).</a:t>
            </a:r>
            <a:endParaRPr lang="en-US" sz="1250" dirty="0"/>
          </a:p>
        </p:txBody>
      </p:sp>
      <p:sp>
        <p:nvSpPr>
          <p:cNvPr id="19" name="Shape 17"/>
          <p:cNvSpPr/>
          <p:nvPr/>
        </p:nvSpPr>
        <p:spPr>
          <a:xfrm>
            <a:off x="5861304" y="1335024"/>
            <a:ext cx="5879592" cy="4873752"/>
          </a:xfrm>
          <a:prstGeom prst="roundRect">
            <a:avLst>
              <a:gd name="adj" fmla="val 2627"/>
            </a:avLst>
          </a:prstGeom>
          <a:solidFill>
            <a:srgbClr val="1F1836"/>
          </a:solidFill>
          <a:ln w="12700">
            <a:solidFill>
              <a:srgbClr val="2E2650"/>
            </a:solidFill>
            <a:prstDash val="solid"/>
          </a:ln>
          <a:effectLst>
            <a:outerShdw sx="100000" sy="100000" kx="0" ky="0" algn="bl" rotWithShape="0" blurRad="152400" dist="50800" dir="5400000">
              <a:srgbClr val="000000">
                <a:alpha val="45000"/>
              </a:srgbClr>
            </a:outerShdw>
          </a:effectLst>
        </p:spPr>
      </p:sp>
      <p:pic>
        <p:nvPicPr>
          <p:cNvPr id="20" name="Image 0" descr="D:\me\intern\infosys-ai\imgs\pgadmin_users.webp">    </p:cNvPr>
          <p:cNvPicPr>
            <a:picLocks noChangeAspect="1"/>
          </p:cNvPicPr>
          <p:nvPr/>
        </p:nvPicPr>
        <p:blipFill>
          <a:blip r:embed="rId1"/>
          <a:stretch>
            <a:fillRect/>
          </a:stretch>
        </p:blipFill>
        <p:spPr>
          <a:xfrm>
            <a:off x="5943600" y="2250546"/>
            <a:ext cx="5715000" cy="3042708"/>
          </a:xfrm>
          <a:prstGeom prst="rect">
            <a:avLst/>
          </a:prstGeom>
        </p:spPr>
      </p:pic>
      <p:sp>
        <p:nvSpPr>
          <p:cNvPr id="21" name="Text 18"/>
          <p:cNvSpPr/>
          <p:nvPr/>
        </p:nvSpPr>
        <p:spPr>
          <a:xfrm>
            <a:off x="457200" y="6473952"/>
            <a:ext cx="4572000" cy="274320"/>
          </a:xfrm>
          <a:prstGeom prst="rect">
            <a:avLst/>
          </a:prstGeom>
          <a:noFill/>
          <a:ln/>
        </p:spPr>
        <p:txBody>
          <a:bodyPr wrap="square" lIns="0" tIns="0" rIns="0" bIns="0" rtlCol="0" anchor="ctr"/>
          <a:lstStyle/>
          <a:p>
            <a:pPr algn="l" indent="0" marL="0">
              <a:buNone/>
            </a:pPr>
            <a:r>
              <a:rPr lang="en-US" sz="900" dirty="0">
                <a:solidFill>
                  <a:srgbClr val="8A81A6"/>
                </a:solidFill>
                <a:latin typeface="Calibri" pitchFamily="34" charset="0"/>
                <a:ea typeface="Calibri" pitchFamily="34" charset="-122"/>
                <a:cs typeface="Calibri" pitchFamily="34" charset="-120"/>
              </a:rPr>
              <a:t>ClipMind AI  •  Milestone 1</a:t>
            </a:r>
            <a:endParaRPr lang="en-US" sz="900" dirty="0"/>
          </a:p>
        </p:txBody>
      </p:sp>
      <p:sp>
        <p:nvSpPr>
          <p:cNvPr id="22" name="Text 19"/>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8A81A6"/>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A16"/>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Backend API &amp; Automated Documentation</a:t>
            </a:r>
            <a:endParaRPr lang="en-US" sz="3000" dirty="0"/>
          </a:p>
        </p:txBody>
      </p:sp>
      <p:sp>
        <p:nvSpPr>
          <p:cNvPr id="3" name="Shape 1"/>
          <p:cNvSpPr/>
          <p:nvPr/>
        </p:nvSpPr>
        <p:spPr>
          <a:xfrm>
            <a:off x="466344" y="1152144"/>
            <a:ext cx="11228832" cy="3867912"/>
          </a:xfrm>
          <a:prstGeom prst="roundRect">
            <a:avLst>
              <a:gd name="adj" fmla="val 3310"/>
            </a:avLst>
          </a:prstGeom>
          <a:solidFill>
            <a:srgbClr val="1F1836"/>
          </a:solidFill>
          <a:ln w="12700">
            <a:solidFill>
              <a:srgbClr val="2E2650"/>
            </a:solidFill>
            <a:prstDash val="solid"/>
          </a:ln>
          <a:effectLst>
            <a:outerShdw sx="100000" sy="100000" kx="0" ky="0" algn="bl" rotWithShape="0" blurRad="152400" dist="50800" dir="5400000">
              <a:srgbClr val="000000">
                <a:alpha val="45000"/>
              </a:srgbClr>
            </a:outerShdw>
          </a:effectLst>
        </p:spPr>
      </p:sp>
      <p:pic>
        <p:nvPicPr>
          <p:cNvPr id="4" name="Image 0" descr="D:\me\intern\infosys-ai\imgs\api_docs.webp">    </p:cNvPr>
          <p:cNvPicPr>
            <a:picLocks noChangeAspect="1"/>
          </p:cNvPicPr>
          <p:nvPr/>
        </p:nvPicPr>
        <p:blipFill>
          <a:blip r:embed="rId1"/>
          <a:stretch>
            <a:fillRect/>
          </a:stretch>
        </p:blipFill>
        <p:spPr>
          <a:xfrm>
            <a:off x="1985692" y="1234440"/>
            <a:ext cx="8190135" cy="3703320"/>
          </a:xfrm>
          <a:prstGeom prst="rect">
            <a:avLst/>
          </a:prstGeom>
        </p:spPr>
      </p:pic>
      <p:sp>
        <p:nvSpPr>
          <p:cNvPr id="5" name="Shape 2"/>
          <p:cNvSpPr/>
          <p:nvPr/>
        </p:nvSpPr>
        <p:spPr>
          <a:xfrm>
            <a:off x="548640" y="5166360"/>
            <a:ext cx="3630168" cy="960120"/>
          </a:xfrm>
          <a:prstGeom prst="roundRect">
            <a:avLst>
              <a:gd name="adj" fmla="val 9524"/>
            </a:avLst>
          </a:prstGeom>
          <a:solidFill>
            <a:srgbClr val="18122B"/>
          </a:solidFill>
          <a:ln/>
        </p:spPr>
      </p:sp>
      <p:sp>
        <p:nvSpPr>
          <p:cNvPr id="6" name="Text 3"/>
          <p:cNvSpPr/>
          <p:nvPr/>
        </p:nvSpPr>
        <p:spPr>
          <a:xfrm>
            <a:off x="749808" y="5276088"/>
            <a:ext cx="3227832" cy="310896"/>
          </a:xfrm>
          <a:prstGeom prst="rect">
            <a:avLst/>
          </a:prstGeom>
          <a:noFill/>
          <a:ln/>
        </p:spPr>
        <p:txBody>
          <a:bodyPr wrap="square" rtlCol="0" anchor="ctr"/>
          <a:lstStyle/>
          <a:p>
            <a:pPr indent="0" marL="0">
              <a:buNone/>
            </a:pPr>
            <a:r>
              <a:rPr lang="en-US" sz="1300" b="1" dirty="0">
                <a:solidFill>
                  <a:srgbClr val="F0ABFC"/>
                </a:solidFill>
                <a:latin typeface="Calibri" pitchFamily="34" charset="0"/>
                <a:ea typeface="Calibri" pitchFamily="34" charset="-122"/>
                <a:cs typeface="Calibri" pitchFamily="34" charset="-120"/>
              </a:rPr>
              <a:t>FastAPI Swagger UI</a:t>
            </a:r>
            <a:endParaRPr lang="en-US" sz="1300" dirty="0"/>
          </a:p>
        </p:txBody>
      </p:sp>
      <p:sp>
        <p:nvSpPr>
          <p:cNvPr id="7" name="Text 4"/>
          <p:cNvSpPr/>
          <p:nvPr/>
        </p:nvSpPr>
        <p:spPr>
          <a:xfrm>
            <a:off x="749808" y="5586984"/>
            <a:ext cx="3227832" cy="502920"/>
          </a:xfrm>
          <a:prstGeom prst="rect">
            <a:avLst/>
          </a:prstGeom>
          <a:noFill/>
          <a:ln/>
        </p:spPr>
        <p:txBody>
          <a:bodyPr wrap="square" rtlCol="0" anchor="ctr"/>
          <a:lstStyle/>
          <a:p>
            <a:pPr indent="0" marL="0">
              <a:buNone/>
            </a:pPr>
            <a:r>
              <a:rPr lang="en-US" sz="1050" dirty="0">
                <a:solidFill>
                  <a:srgbClr val="B7AECF"/>
                </a:solidFill>
                <a:latin typeface="Calibri" pitchFamily="34" charset="0"/>
                <a:ea typeface="Calibri" pitchFamily="34" charset="-122"/>
                <a:cs typeface="Calibri" pitchFamily="34" charset="-120"/>
              </a:rPr>
              <a:t>Interactive, auto-generated documentation for every endpoint</a:t>
            </a:r>
            <a:endParaRPr lang="en-US" sz="1050" dirty="0"/>
          </a:p>
        </p:txBody>
      </p:sp>
      <p:sp>
        <p:nvSpPr>
          <p:cNvPr id="8" name="Shape 5"/>
          <p:cNvSpPr/>
          <p:nvPr/>
        </p:nvSpPr>
        <p:spPr>
          <a:xfrm>
            <a:off x="4352544" y="5166360"/>
            <a:ext cx="3630168" cy="960120"/>
          </a:xfrm>
          <a:prstGeom prst="roundRect">
            <a:avLst>
              <a:gd name="adj" fmla="val 9524"/>
            </a:avLst>
          </a:prstGeom>
          <a:solidFill>
            <a:srgbClr val="18122B"/>
          </a:solidFill>
          <a:ln/>
        </p:spPr>
      </p:sp>
      <p:sp>
        <p:nvSpPr>
          <p:cNvPr id="9" name="Text 6"/>
          <p:cNvSpPr/>
          <p:nvPr/>
        </p:nvSpPr>
        <p:spPr>
          <a:xfrm>
            <a:off x="4553712" y="5276088"/>
            <a:ext cx="3227832" cy="310896"/>
          </a:xfrm>
          <a:prstGeom prst="rect">
            <a:avLst/>
          </a:prstGeom>
          <a:noFill/>
          <a:ln/>
        </p:spPr>
        <p:txBody>
          <a:bodyPr wrap="square" rtlCol="0" anchor="ctr"/>
          <a:lstStyle/>
          <a:p>
            <a:pPr indent="0" marL="0">
              <a:buNone/>
            </a:pPr>
            <a:r>
              <a:rPr lang="en-US" sz="1300" b="1" dirty="0">
                <a:solidFill>
                  <a:srgbClr val="F0ABFC"/>
                </a:solidFill>
                <a:latin typeface="Calibri" pitchFamily="34" charset="0"/>
                <a:ea typeface="Calibri" pitchFamily="34" charset="-122"/>
                <a:cs typeface="Calibri" pitchFamily="34" charset="-120"/>
              </a:rPr>
              <a:t>Centralized Routing</a:t>
            </a:r>
            <a:endParaRPr lang="en-US" sz="1300" dirty="0"/>
          </a:p>
        </p:txBody>
      </p:sp>
      <p:sp>
        <p:nvSpPr>
          <p:cNvPr id="10" name="Text 7"/>
          <p:cNvSpPr/>
          <p:nvPr/>
        </p:nvSpPr>
        <p:spPr>
          <a:xfrm>
            <a:off x="4553712" y="5586984"/>
            <a:ext cx="3227832" cy="502920"/>
          </a:xfrm>
          <a:prstGeom prst="rect">
            <a:avLst/>
          </a:prstGeom>
          <a:noFill/>
          <a:ln/>
        </p:spPr>
        <p:txBody>
          <a:bodyPr wrap="square" rtlCol="0" anchor="ctr"/>
          <a:lstStyle/>
          <a:p>
            <a:pPr indent="0" marL="0">
              <a:buNone/>
            </a:pPr>
            <a:r>
              <a:rPr lang="en-US" sz="1050" dirty="0">
                <a:solidFill>
                  <a:srgbClr val="B7AECF"/>
                </a:solidFill>
                <a:latin typeface="Calibri" pitchFamily="34" charset="0"/>
                <a:ea typeface="Calibri" pitchFamily="34" charset="-122"/>
                <a:cs typeface="Calibri" pitchFamily="34" charset="-120"/>
              </a:rPr>
              <a:t>Organized by modules: /api/auth, /api/video, /api/admin</a:t>
            </a:r>
            <a:endParaRPr lang="en-US" sz="1050" dirty="0"/>
          </a:p>
        </p:txBody>
      </p:sp>
      <p:sp>
        <p:nvSpPr>
          <p:cNvPr id="11" name="Shape 8"/>
          <p:cNvSpPr/>
          <p:nvPr/>
        </p:nvSpPr>
        <p:spPr>
          <a:xfrm>
            <a:off x="8156448" y="5166360"/>
            <a:ext cx="3630168" cy="960120"/>
          </a:xfrm>
          <a:prstGeom prst="roundRect">
            <a:avLst>
              <a:gd name="adj" fmla="val 9524"/>
            </a:avLst>
          </a:prstGeom>
          <a:solidFill>
            <a:srgbClr val="18122B"/>
          </a:solidFill>
          <a:ln/>
        </p:spPr>
      </p:sp>
      <p:sp>
        <p:nvSpPr>
          <p:cNvPr id="12" name="Text 9"/>
          <p:cNvSpPr/>
          <p:nvPr/>
        </p:nvSpPr>
        <p:spPr>
          <a:xfrm>
            <a:off x="8357616" y="5276088"/>
            <a:ext cx="3227832" cy="310896"/>
          </a:xfrm>
          <a:prstGeom prst="rect">
            <a:avLst/>
          </a:prstGeom>
          <a:noFill/>
          <a:ln/>
        </p:spPr>
        <p:txBody>
          <a:bodyPr wrap="square" rtlCol="0" anchor="ctr"/>
          <a:lstStyle/>
          <a:p>
            <a:pPr indent="0" marL="0">
              <a:buNone/>
            </a:pPr>
            <a:r>
              <a:rPr lang="en-US" sz="1300" b="1" dirty="0">
                <a:solidFill>
                  <a:srgbClr val="F0ABFC"/>
                </a:solidFill>
                <a:latin typeface="Calibri" pitchFamily="34" charset="0"/>
                <a:ea typeface="Calibri" pitchFamily="34" charset="-122"/>
                <a:cs typeface="Calibri" pitchFamily="34" charset="-120"/>
              </a:rPr>
              <a:t>Live Testing</a:t>
            </a:r>
            <a:endParaRPr lang="en-US" sz="1300" dirty="0"/>
          </a:p>
        </p:txBody>
      </p:sp>
      <p:sp>
        <p:nvSpPr>
          <p:cNvPr id="13" name="Text 10"/>
          <p:cNvSpPr/>
          <p:nvPr/>
        </p:nvSpPr>
        <p:spPr>
          <a:xfrm>
            <a:off x="8357616" y="5586984"/>
            <a:ext cx="3227832" cy="502920"/>
          </a:xfrm>
          <a:prstGeom prst="rect">
            <a:avLst/>
          </a:prstGeom>
          <a:noFill/>
          <a:ln/>
        </p:spPr>
        <p:txBody>
          <a:bodyPr wrap="square" rtlCol="0" anchor="ctr"/>
          <a:lstStyle/>
          <a:p>
            <a:pPr indent="0" marL="0">
              <a:buNone/>
            </a:pPr>
            <a:r>
              <a:rPr lang="en-US" sz="1050" dirty="0">
                <a:solidFill>
                  <a:srgbClr val="B7AECF"/>
                </a:solidFill>
                <a:latin typeface="Calibri" pitchFamily="34" charset="0"/>
                <a:ea typeface="Calibri" pitchFamily="34" charset="-122"/>
                <a:cs typeface="Calibri" pitchFamily="34" charset="-120"/>
              </a:rPr>
              <a:t>Test JWT authentication and payloads directly in the browser</a:t>
            </a:r>
            <a:endParaRPr lang="en-US" sz="1050" dirty="0"/>
          </a:p>
        </p:txBody>
      </p:sp>
      <p:sp>
        <p:nvSpPr>
          <p:cNvPr id="14" name="Text 11"/>
          <p:cNvSpPr/>
          <p:nvPr/>
        </p:nvSpPr>
        <p:spPr>
          <a:xfrm>
            <a:off x="457200" y="6473952"/>
            <a:ext cx="4572000" cy="274320"/>
          </a:xfrm>
          <a:prstGeom prst="rect">
            <a:avLst/>
          </a:prstGeom>
          <a:noFill/>
          <a:ln/>
        </p:spPr>
        <p:txBody>
          <a:bodyPr wrap="square" lIns="0" tIns="0" rIns="0" bIns="0" rtlCol="0" anchor="ctr"/>
          <a:lstStyle/>
          <a:p>
            <a:pPr algn="l" indent="0" marL="0">
              <a:buNone/>
            </a:pPr>
            <a:r>
              <a:rPr lang="en-US" sz="900" dirty="0">
                <a:solidFill>
                  <a:srgbClr val="8A81A6"/>
                </a:solidFill>
                <a:latin typeface="Calibri" pitchFamily="34" charset="0"/>
                <a:ea typeface="Calibri" pitchFamily="34" charset="-122"/>
                <a:cs typeface="Calibri" pitchFamily="34" charset="-120"/>
              </a:rPr>
              <a:t>ClipMind AI  •  Milestone 1</a:t>
            </a:r>
            <a:endParaRPr lang="en-US" sz="900" dirty="0"/>
          </a:p>
        </p:txBody>
      </p:sp>
      <p:sp>
        <p:nvSpPr>
          <p:cNvPr id="15" name="Text 1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8A81A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A16"/>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UI/UX Design System</a:t>
            </a:r>
            <a:endParaRPr lang="en-US" sz="3000" dirty="0"/>
          </a:p>
        </p:txBody>
      </p:sp>
      <p:sp>
        <p:nvSpPr>
          <p:cNvPr id="3" name="Shape 1"/>
          <p:cNvSpPr/>
          <p:nvPr/>
        </p:nvSpPr>
        <p:spPr>
          <a:xfrm>
            <a:off x="466344" y="1152144"/>
            <a:ext cx="6839712" cy="3410712"/>
          </a:xfrm>
          <a:prstGeom prst="roundRect">
            <a:avLst>
              <a:gd name="adj" fmla="val 3753"/>
            </a:avLst>
          </a:prstGeom>
          <a:solidFill>
            <a:srgbClr val="1F1836"/>
          </a:solidFill>
          <a:ln w="12700">
            <a:solidFill>
              <a:srgbClr val="2E2650"/>
            </a:solidFill>
            <a:prstDash val="solid"/>
          </a:ln>
          <a:effectLst>
            <a:outerShdw sx="100000" sy="100000" kx="0" ky="0" algn="bl" rotWithShape="0" blurRad="152400" dist="50800" dir="5400000">
              <a:srgbClr val="000000">
                <a:alpha val="45000"/>
              </a:srgbClr>
            </a:outerShdw>
          </a:effectLst>
        </p:spPr>
      </p:sp>
      <p:pic>
        <p:nvPicPr>
          <p:cNvPr id="4" name="Image 0" descr="D:\me\intern\infosys-ai\imgs\landing_hero.webp">    </p:cNvPr>
          <p:cNvPicPr>
            <a:picLocks noChangeAspect="1"/>
          </p:cNvPicPr>
          <p:nvPr/>
        </p:nvPicPr>
        <p:blipFill>
          <a:blip r:embed="rId1"/>
          <a:stretch>
            <a:fillRect/>
          </a:stretch>
        </p:blipFill>
        <p:spPr>
          <a:xfrm>
            <a:off x="619245" y="1234440"/>
            <a:ext cx="6533910" cy="3246120"/>
          </a:xfrm>
          <a:prstGeom prst="rect">
            <a:avLst/>
          </a:prstGeom>
        </p:spPr>
      </p:pic>
      <p:sp>
        <p:nvSpPr>
          <p:cNvPr id="5" name="Shape 2"/>
          <p:cNvSpPr/>
          <p:nvPr/>
        </p:nvSpPr>
        <p:spPr>
          <a:xfrm>
            <a:off x="7370064" y="1152144"/>
            <a:ext cx="4370832" cy="1719072"/>
          </a:xfrm>
          <a:prstGeom prst="roundRect">
            <a:avLst>
              <a:gd name="adj" fmla="val 7447"/>
            </a:avLst>
          </a:prstGeom>
          <a:solidFill>
            <a:srgbClr val="1F1836"/>
          </a:solidFill>
          <a:ln w="12700">
            <a:solidFill>
              <a:srgbClr val="2E2650"/>
            </a:solidFill>
            <a:prstDash val="solid"/>
          </a:ln>
          <a:effectLst>
            <a:outerShdw sx="100000" sy="100000" kx="0" ky="0" algn="bl" rotWithShape="0" blurRad="152400" dist="50800" dir="5400000">
              <a:srgbClr val="000000">
                <a:alpha val="45000"/>
              </a:srgbClr>
            </a:outerShdw>
          </a:effectLst>
        </p:spPr>
      </p:sp>
      <p:pic>
        <p:nvPicPr>
          <p:cNvPr id="6" name="Image 1" descr="D:\me\intern\infosys-ai\imgs\ai_capabilities.webp">    </p:cNvPr>
          <p:cNvPicPr>
            <a:picLocks noChangeAspect="1"/>
          </p:cNvPicPr>
          <p:nvPr/>
        </p:nvPicPr>
        <p:blipFill>
          <a:blip r:embed="rId2"/>
          <a:stretch>
            <a:fillRect/>
          </a:stretch>
        </p:blipFill>
        <p:spPr>
          <a:xfrm>
            <a:off x="7867513" y="1234440"/>
            <a:ext cx="3375934" cy="1554480"/>
          </a:xfrm>
          <a:prstGeom prst="rect">
            <a:avLst/>
          </a:prstGeom>
        </p:spPr>
      </p:pic>
      <p:sp>
        <p:nvSpPr>
          <p:cNvPr id="7" name="Shape 3"/>
          <p:cNvSpPr/>
          <p:nvPr/>
        </p:nvSpPr>
        <p:spPr>
          <a:xfrm>
            <a:off x="7370064" y="2916936"/>
            <a:ext cx="4370832" cy="1645920"/>
          </a:xfrm>
          <a:prstGeom prst="roundRect">
            <a:avLst>
              <a:gd name="adj" fmla="val 7778"/>
            </a:avLst>
          </a:prstGeom>
          <a:solidFill>
            <a:srgbClr val="1F1836"/>
          </a:solidFill>
          <a:ln w="12700">
            <a:solidFill>
              <a:srgbClr val="2E2650"/>
            </a:solidFill>
            <a:prstDash val="solid"/>
          </a:ln>
          <a:effectLst>
            <a:outerShdw sx="100000" sy="100000" kx="0" ky="0" algn="bl" rotWithShape="0" blurRad="152400" dist="50800" dir="5400000">
              <a:srgbClr val="000000">
                <a:alpha val="45000"/>
              </a:srgbClr>
            </a:outerShdw>
          </a:effectLst>
        </p:spPr>
      </p:sp>
      <p:pic>
        <p:nvPicPr>
          <p:cNvPr id="8" name="Image 2" descr="D:\me\intern\infosys-ai\imgs\how_it_works.webp">    </p:cNvPr>
          <p:cNvPicPr>
            <a:picLocks noChangeAspect="1"/>
          </p:cNvPicPr>
          <p:nvPr/>
        </p:nvPicPr>
        <p:blipFill>
          <a:blip r:embed="rId3"/>
          <a:stretch>
            <a:fillRect/>
          </a:stretch>
        </p:blipFill>
        <p:spPr>
          <a:xfrm>
            <a:off x="7973244" y="2999232"/>
            <a:ext cx="3164472" cy="1481328"/>
          </a:xfrm>
          <a:prstGeom prst="rect">
            <a:avLst/>
          </a:prstGeom>
        </p:spPr>
      </p:pic>
      <p:sp>
        <p:nvSpPr>
          <p:cNvPr id="9" name="Shape 4"/>
          <p:cNvSpPr/>
          <p:nvPr/>
        </p:nvSpPr>
        <p:spPr>
          <a:xfrm>
            <a:off x="548640" y="4754880"/>
            <a:ext cx="3611880" cy="1325880"/>
          </a:xfrm>
          <a:prstGeom prst="roundRect">
            <a:avLst>
              <a:gd name="adj" fmla="val 6897"/>
            </a:avLst>
          </a:prstGeom>
          <a:solidFill>
            <a:srgbClr val="18122B"/>
          </a:solidFill>
          <a:ln/>
        </p:spPr>
      </p:sp>
      <p:sp>
        <p:nvSpPr>
          <p:cNvPr id="10" name="Text 5"/>
          <p:cNvSpPr/>
          <p:nvPr/>
        </p:nvSpPr>
        <p:spPr>
          <a:xfrm>
            <a:off x="777240" y="4919472"/>
            <a:ext cx="3154680" cy="457200"/>
          </a:xfrm>
          <a:prstGeom prst="rect">
            <a:avLst/>
          </a:prstGeom>
          <a:noFill/>
          <a:ln/>
        </p:spPr>
        <p:txBody>
          <a:bodyPr wrap="square" rtlCol="0" anchor="ctr"/>
          <a:lstStyle/>
          <a:p>
            <a:pPr indent="0" marL="0">
              <a:buNone/>
            </a:pPr>
            <a:r>
              <a:rPr lang="en-US" sz="1400" b="1" dirty="0">
                <a:solidFill>
                  <a:srgbClr val="F0ABFC"/>
                </a:solidFill>
                <a:latin typeface="Calibri" pitchFamily="34" charset="0"/>
                <a:ea typeface="Calibri" pitchFamily="34" charset="-122"/>
                <a:cs typeface="Calibri" pitchFamily="34" charset="-120"/>
              </a:rPr>
              <a:t>Dark-mode glassmorphism</a:t>
            </a:r>
            <a:endParaRPr lang="en-US" sz="1400" dirty="0"/>
          </a:p>
        </p:txBody>
      </p:sp>
      <p:sp>
        <p:nvSpPr>
          <p:cNvPr id="11" name="Text 6"/>
          <p:cNvSpPr/>
          <p:nvPr/>
        </p:nvSpPr>
        <p:spPr>
          <a:xfrm>
            <a:off x="777240" y="5349240"/>
            <a:ext cx="3154680" cy="640080"/>
          </a:xfrm>
          <a:prstGeom prst="rect">
            <a:avLst/>
          </a:prstGeom>
          <a:noFill/>
          <a:ln/>
        </p:spPr>
        <p:txBody>
          <a:bodyPr wrap="square" rtlCol="0" anchor="ctr"/>
          <a:lstStyle/>
          <a:p>
            <a:pPr indent="0" marL="0">
              <a:buNone/>
            </a:pPr>
            <a:r>
              <a:rPr lang="en-US" sz="1150" dirty="0">
                <a:solidFill>
                  <a:srgbClr val="B7AECF"/>
                </a:solidFill>
                <a:latin typeface="Calibri" pitchFamily="34" charset="0"/>
                <a:ea typeface="Calibri" pitchFamily="34" charset="-122"/>
                <a:cs typeface="Calibri" pitchFamily="34" charset="-120"/>
              </a:rPr>
              <a:t>Frosted cards, soft glow, violet→pink gradients</a:t>
            </a:r>
            <a:endParaRPr lang="en-US" sz="1150" dirty="0"/>
          </a:p>
        </p:txBody>
      </p:sp>
      <p:sp>
        <p:nvSpPr>
          <p:cNvPr id="12" name="Shape 7"/>
          <p:cNvSpPr/>
          <p:nvPr/>
        </p:nvSpPr>
        <p:spPr>
          <a:xfrm>
            <a:off x="4343400" y="4754880"/>
            <a:ext cx="3611880" cy="1325880"/>
          </a:xfrm>
          <a:prstGeom prst="roundRect">
            <a:avLst>
              <a:gd name="adj" fmla="val 6897"/>
            </a:avLst>
          </a:prstGeom>
          <a:solidFill>
            <a:srgbClr val="18122B"/>
          </a:solidFill>
          <a:ln/>
        </p:spPr>
      </p:sp>
      <p:sp>
        <p:nvSpPr>
          <p:cNvPr id="13" name="Text 8"/>
          <p:cNvSpPr/>
          <p:nvPr/>
        </p:nvSpPr>
        <p:spPr>
          <a:xfrm>
            <a:off x="4572000" y="4919472"/>
            <a:ext cx="3154680" cy="457200"/>
          </a:xfrm>
          <a:prstGeom prst="rect">
            <a:avLst/>
          </a:prstGeom>
          <a:noFill/>
          <a:ln/>
        </p:spPr>
        <p:txBody>
          <a:bodyPr wrap="square" rtlCol="0" anchor="ctr"/>
          <a:lstStyle/>
          <a:p>
            <a:pPr indent="0" marL="0">
              <a:buNone/>
            </a:pPr>
            <a:r>
              <a:rPr lang="en-US" sz="1400" b="1" dirty="0">
                <a:solidFill>
                  <a:srgbClr val="F0ABFC"/>
                </a:solidFill>
                <a:latin typeface="Calibri" pitchFamily="34" charset="0"/>
                <a:ea typeface="Calibri" pitchFamily="34" charset="-122"/>
                <a:cs typeface="Calibri" pitchFamily="34" charset="-120"/>
              </a:rPr>
              <a:t>Built with Next.js + Tailwind</a:t>
            </a:r>
            <a:endParaRPr lang="en-US" sz="1400" dirty="0"/>
          </a:p>
        </p:txBody>
      </p:sp>
      <p:sp>
        <p:nvSpPr>
          <p:cNvPr id="14" name="Text 9"/>
          <p:cNvSpPr/>
          <p:nvPr/>
        </p:nvSpPr>
        <p:spPr>
          <a:xfrm>
            <a:off x="4572000" y="5349240"/>
            <a:ext cx="3154680" cy="640080"/>
          </a:xfrm>
          <a:prstGeom prst="rect">
            <a:avLst/>
          </a:prstGeom>
          <a:noFill/>
          <a:ln/>
        </p:spPr>
        <p:txBody>
          <a:bodyPr wrap="square" rtlCol="0" anchor="ctr"/>
          <a:lstStyle/>
          <a:p>
            <a:pPr indent="0" marL="0">
              <a:buNone/>
            </a:pPr>
            <a:r>
              <a:rPr lang="en-US" sz="1150" dirty="0">
                <a:solidFill>
                  <a:srgbClr val="B7AECF"/>
                </a:solidFill>
                <a:latin typeface="Calibri" pitchFamily="34" charset="0"/>
                <a:ea typeface="Calibri" pitchFamily="34" charset="-122"/>
                <a:cs typeface="Calibri" pitchFamily="34" charset="-120"/>
              </a:rPr>
              <a:t>Component-driven, fully responsive</a:t>
            </a:r>
            <a:endParaRPr lang="en-US" sz="1150" dirty="0"/>
          </a:p>
        </p:txBody>
      </p:sp>
      <p:sp>
        <p:nvSpPr>
          <p:cNvPr id="15" name="Shape 10"/>
          <p:cNvSpPr/>
          <p:nvPr/>
        </p:nvSpPr>
        <p:spPr>
          <a:xfrm>
            <a:off x="8138160" y="4754880"/>
            <a:ext cx="3611880" cy="1325880"/>
          </a:xfrm>
          <a:prstGeom prst="roundRect">
            <a:avLst>
              <a:gd name="adj" fmla="val 6897"/>
            </a:avLst>
          </a:prstGeom>
          <a:solidFill>
            <a:srgbClr val="18122B"/>
          </a:solidFill>
          <a:ln/>
        </p:spPr>
      </p:sp>
      <p:sp>
        <p:nvSpPr>
          <p:cNvPr id="16" name="Text 11"/>
          <p:cNvSpPr/>
          <p:nvPr/>
        </p:nvSpPr>
        <p:spPr>
          <a:xfrm>
            <a:off x="8366760" y="4919472"/>
            <a:ext cx="3154680" cy="457200"/>
          </a:xfrm>
          <a:prstGeom prst="rect">
            <a:avLst/>
          </a:prstGeom>
          <a:noFill/>
          <a:ln/>
        </p:spPr>
        <p:txBody>
          <a:bodyPr wrap="square" rtlCol="0" anchor="ctr"/>
          <a:lstStyle/>
          <a:p>
            <a:pPr indent="0" marL="0">
              <a:buNone/>
            </a:pPr>
            <a:r>
              <a:rPr lang="en-US" sz="1400" b="1" dirty="0">
                <a:solidFill>
                  <a:srgbClr val="F0ABFC"/>
                </a:solidFill>
                <a:latin typeface="Calibri" pitchFamily="34" charset="0"/>
                <a:ea typeface="Calibri" pitchFamily="34" charset="-122"/>
                <a:cs typeface="Calibri" pitchFamily="34" charset="-120"/>
              </a:rPr>
              <a:t>One design language</a:t>
            </a:r>
            <a:endParaRPr lang="en-US" sz="1400" dirty="0"/>
          </a:p>
        </p:txBody>
      </p:sp>
      <p:sp>
        <p:nvSpPr>
          <p:cNvPr id="17" name="Text 12"/>
          <p:cNvSpPr/>
          <p:nvPr/>
        </p:nvSpPr>
        <p:spPr>
          <a:xfrm>
            <a:off x="8366760" y="5349240"/>
            <a:ext cx="3154680" cy="640080"/>
          </a:xfrm>
          <a:prstGeom prst="rect">
            <a:avLst/>
          </a:prstGeom>
          <a:noFill/>
          <a:ln/>
        </p:spPr>
        <p:txBody>
          <a:bodyPr wrap="square" rtlCol="0" anchor="ctr"/>
          <a:lstStyle/>
          <a:p>
            <a:pPr indent="0" marL="0">
              <a:buNone/>
            </a:pPr>
            <a:r>
              <a:rPr lang="en-US" sz="1150" dirty="0">
                <a:solidFill>
                  <a:srgbClr val="B7AECF"/>
                </a:solidFill>
                <a:latin typeface="Calibri" pitchFamily="34" charset="0"/>
                <a:ea typeface="Calibri" pitchFamily="34" charset="-122"/>
                <a:cs typeface="Calibri" pitchFamily="34" charset="-120"/>
              </a:rPr>
              <a:t>Marketing site and product dashboard match</a:t>
            </a:r>
            <a:endParaRPr lang="en-US" sz="1150" dirty="0"/>
          </a:p>
        </p:txBody>
      </p:sp>
      <p:sp>
        <p:nvSpPr>
          <p:cNvPr id="18" name="Text 13"/>
          <p:cNvSpPr/>
          <p:nvPr/>
        </p:nvSpPr>
        <p:spPr>
          <a:xfrm>
            <a:off x="457200" y="6473952"/>
            <a:ext cx="4572000" cy="274320"/>
          </a:xfrm>
          <a:prstGeom prst="rect">
            <a:avLst/>
          </a:prstGeom>
          <a:noFill/>
          <a:ln/>
        </p:spPr>
        <p:txBody>
          <a:bodyPr wrap="square" lIns="0" tIns="0" rIns="0" bIns="0" rtlCol="0" anchor="ctr"/>
          <a:lstStyle/>
          <a:p>
            <a:pPr algn="l" indent="0" marL="0">
              <a:buNone/>
            </a:pPr>
            <a:r>
              <a:rPr lang="en-US" sz="900" dirty="0">
                <a:solidFill>
                  <a:srgbClr val="8A81A6"/>
                </a:solidFill>
                <a:latin typeface="Calibri" pitchFamily="34" charset="0"/>
                <a:ea typeface="Calibri" pitchFamily="34" charset="-122"/>
                <a:cs typeface="Calibri" pitchFamily="34" charset="-120"/>
              </a:rPr>
              <a:t>ClipMind AI  •  Milestone 1</a:t>
            </a:r>
            <a:endParaRPr lang="en-US" sz="900" dirty="0"/>
          </a:p>
        </p:txBody>
      </p:sp>
      <p:sp>
        <p:nvSpPr>
          <p:cNvPr id="19" name="Text 1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8A81A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A16"/>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Advanced Role-Based Access Control</a:t>
            </a:r>
            <a:endParaRPr lang="en-US" sz="2800" dirty="0"/>
          </a:p>
        </p:txBody>
      </p:sp>
      <p:sp>
        <p:nvSpPr>
          <p:cNvPr id="3" name="Text 1"/>
          <p:cNvSpPr/>
          <p:nvPr/>
        </p:nvSpPr>
        <p:spPr>
          <a:xfrm>
            <a:off x="548640" y="960120"/>
            <a:ext cx="7315200" cy="365760"/>
          </a:xfrm>
          <a:prstGeom prst="rect">
            <a:avLst/>
          </a:prstGeom>
          <a:noFill/>
          <a:ln/>
        </p:spPr>
        <p:txBody>
          <a:bodyPr wrap="square" rtlCol="0" anchor="ctr"/>
          <a:lstStyle/>
          <a:p>
            <a:pPr indent="0" marL="0">
              <a:buNone/>
            </a:pPr>
            <a:r>
              <a:rPr lang="en-US" sz="1300" i="1" dirty="0">
                <a:solidFill>
                  <a:srgbClr val="8A81A6"/>
                </a:solidFill>
                <a:latin typeface="Calibri" pitchFamily="34" charset="0"/>
                <a:ea typeface="Calibri" pitchFamily="34" charset="-122"/>
                <a:cs typeface="Calibri" pitchFamily="34" charset="-120"/>
              </a:rPr>
              <a:t>One login, four completely different experiences</a:t>
            </a:r>
            <a:endParaRPr lang="en-US" sz="1300" dirty="0"/>
          </a:p>
        </p:txBody>
      </p:sp>
      <p:sp>
        <p:nvSpPr>
          <p:cNvPr id="4" name="Shape 2"/>
          <p:cNvSpPr/>
          <p:nvPr/>
        </p:nvSpPr>
        <p:spPr>
          <a:xfrm>
            <a:off x="466344" y="1380744"/>
            <a:ext cx="6702552" cy="4782312"/>
          </a:xfrm>
          <a:prstGeom prst="roundRect">
            <a:avLst>
              <a:gd name="adj" fmla="val 2677"/>
            </a:avLst>
          </a:prstGeom>
          <a:solidFill>
            <a:srgbClr val="1F1836"/>
          </a:solidFill>
          <a:ln w="12700">
            <a:solidFill>
              <a:srgbClr val="2E2650"/>
            </a:solidFill>
            <a:prstDash val="solid"/>
          </a:ln>
          <a:effectLst>
            <a:outerShdw sx="100000" sy="100000" kx="0" ky="0" algn="bl" rotWithShape="0" blurRad="152400" dist="50800" dir="5400000">
              <a:srgbClr val="000000">
                <a:alpha val="45000"/>
              </a:srgbClr>
            </a:outerShdw>
          </a:effectLst>
        </p:spPr>
      </p:sp>
      <p:pic>
        <p:nvPicPr>
          <p:cNvPr id="5" name="Image 0" descr="D:\me\intern\infosys-ai\imgs\admin_dashboard.webp">    </p:cNvPr>
          <p:cNvPicPr>
            <a:picLocks noChangeAspect="1"/>
          </p:cNvPicPr>
          <p:nvPr/>
        </p:nvPicPr>
        <p:blipFill>
          <a:blip r:embed="rId1"/>
          <a:stretch>
            <a:fillRect/>
          </a:stretch>
        </p:blipFill>
        <p:spPr>
          <a:xfrm>
            <a:off x="548640" y="2249990"/>
            <a:ext cx="6537960" cy="3043821"/>
          </a:xfrm>
          <a:prstGeom prst="rect">
            <a:avLst/>
          </a:prstGeom>
        </p:spPr>
      </p:pic>
      <p:sp>
        <p:nvSpPr>
          <p:cNvPr id="6" name="Shape 3"/>
          <p:cNvSpPr/>
          <p:nvPr/>
        </p:nvSpPr>
        <p:spPr>
          <a:xfrm>
            <a:off x="7360920" y="1508760"/>
            <a:ext cx="4297680" cy="1078992"/>
          </a:xfrm>
          <a:prstGeom prst="roundRect">
            <a:avLst>
              <a:gd name="adj" fmla="val 8475"/>
            </a:avLst>
          </a:prstGeom>
          <a:solidFill>
            <a:srgbClr val="18122B"/>
          </a:solidFill>
          <a:ln/>
        </p:spPr>
      </p:sp>
      <p:sp>
        <p:nvSpPr>
          <p:cNvPr id="7" name="Shape 4"/>
          <p:cNvSpPr/>
          <p:nvPr/>
        </p:nvSpPr>
        <p:spPr>
          <a:xfrm>
            <a:off x="7543800" y="1691640"/>
            <a:ext cx="457200" cy="457200"/>
          </a:xfrm>
          <a:prstGeom prst="ellipse">
            <a:avLst/>
          </a:prstGeom>
          <a:solidFill>
            <a:srgbClr val="7C3AED"/>
          </a:solidFill>
          <a:ln/>
        </p:spPr>
      </p:sp>
      <p:sp>
        <p:nvSpPr>
          <p:cNvPr id="8" name="Text 5"/>
          <p:cNvSpPr/>
          <p:nvPr/>
        </p:nvSpPr>
        <p:spPr>
          <a:xfrm>
            <a:off x="7543800" y="1691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p:nvPr/>
        </p:nvSpPr>
        <p:spPr>
          <a:xfrm>
            <a:off x="8183880" y="1645920"/>
            <a:ext cx="3291840" cy="292608"/>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Content Creator</a:t>
            </a:r>
            <a:endParaRPr lang="en-US" sz="1450" dirty="0"/>
          </a:p>
        </p:txBody>
      </p:sp>
      <p:sp>
        <p:nvSpPr>
          <p:cNvPr id="10" name="Text 7"/>
          <p:cNvSpPr/>
          <p:nvPr/>
        </p:nvSpPr>
        <p:spPr>
          <a:xfrm>
            <a:off x="8183880" y="1965960"/>
            <a:ext cx="3291840" cy="548640"/>
          </a:xfrm>
          <a:prstGeom prst="rect">
            <a:avLst/>
          </a:prstGeom>
          <a:noFill/>
          <a:ln/>
        </p:spPr>
        <p:txBody>
          <a:bodyPr wrap="square" rtlCol="0" anchor="ctr"/>
          <a:lstStyle/>
          <a:p>
            <a:pPr indent="0" marL="0">
              <a:buNone/>
            </a:pPr>
            <a:r>
              <a:rPr lang="en-US" sz="1150" dirty="0">
                <a:solidFill>
                  <a:srgbClr val="B7AECF"/>
                </a:solidFill>
                <a:latin typeface="Calibri" pitchFamily="34" charset="0"/>
                <a:ea typeface="Calibri" pitchFamily="34" charset="-122"/>
                <a:cs typeface="Calibri" pitchFamily="34" charset="-120"/>
              </a:rPr>
              <a:t>Upload, generate summaries &amp; transcripts, view analytics</a:t>
            </a:r>
            <a:endParaRPr lang="en-US" sz="1150" dirty="0"/>
          </a:p>
        </p:txBody>
      </p:sp>
      <p:sp>
        <p:nvSpPr>
          <p:cNvPr id="11" name="Shape 8"/>
          <p:cNvSpPr/>
          <p:nvPr/>
        </p:nvSpPr>
        <p:spPr>
          <a:xfrm>
            <a:off x="7360920" y="2715768"/>
            <a:ext cx="4297680" cy="1078992"/>
          </a:xfrm>
          <a:prstGeom prst="roundRect">
            <a:avLst>
              <a:gd name="adj" fmla="val 8475"/>
            </a:avLst>
          </a:prstGeom>
          <a:solidFill>
            <a:srgbClr val="18122B"/>
          </a:solidFill>
          <a:ln/>
        </p:spPr>
      </p:sp>
      <p:sp>
        <p:nvSpPr>
          <p:cNvPr id="12" name="Shape 9"/>
          <p:cNvSpPr/>
          <p:nvPr/>
        </p:nvSpPr>
        <p:spPr>
          <a:xfrm>
            <a:off x="7543800" y="2898648"/>
            <a:ext cx="457200" cy="457200"/>
          </a:xfrm>
          <a:prstGeom prst="ellipse">
            <a:avLst/>
          </a:prstGeom>
          <a:solidFill>
            <a:srgbClr val="7C3AED"/>
          </a:solidFill>
          <a:ln/>
        </p:spPr>
      </p:sp>
      <p:sp>
        <p:nvSpPr>
          <p:cNvPr id="13" name="Text 10"/>
          <p:cNvSpPr/>
          <p:nvPr/>
        </p:nvSpPr>
        <p:spPr>
          <a:xfrm>
            <a:off x="7543800" y="28986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p:nvPr/>
        </p:nvSpPr>
        <p:spPr>
          <a:xfrm>
            <a:off x="8183880" y="2852928"/>
            <a:ext cx="3291840" cy="292608"/>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Learner</a:t>
            </a:r>
            <a:endParaRPr lang="en-US" sz="1450" dirty="0"/>
          </a:p>
        </p:txBody>
      </p:sp>
      <p:sp>
        <p:nvSpPr>
          <p:cNvPr id="15" name="Text 12"/>
          <p:cNvSpPr/>
          <p:nvPr/>
        </p:nvSpPr>
        <p:spPr>
          <a:xfrm>
            <a:off x="8183880" y="3172968"/>
            <a:ext cx="3291840" cy="548640"/>
          </a:xfrm>
          <a:prstGeom prst="rect">
            <a:avLst/>
          </a:prstGeom>
          <a:noFill/>
          <a:ln/>
        </p:spPr>
        <p:txBody>
          <a:bodyPr wrap="square" rtlCol="0" anchor="ctr"/>
          <a:lstStyle/>
          <a:p>
            <a:pPr indent="0" marL="0">
              <a:buNone/>
            </a:pPr>
            <a:r>
              <a:rPr lang="en-US" sz="1150" dirty="0">
                <a:solidFill>
                  <a:srgbClr val="B7AECF"/>
                </a:solidFill>
                <a:latin typeface="Calibri" pitchFamily="34" charset="0"/>
                <a:ea typeface="Calibri" pitchFamily="34" charset="-122"/>
                <a:cs typeface="Calibri" pitchFamily="34" charset="-120"/>
              </a:rPr>
              <a:t>Read summaries, browse transcripts, bookmark highlights</a:t>
            </a:r>
            <a:endParaRPr lang="en-US" sz="1150" dirty="0"/>
          </a:p>
        </p:txBody>
      </p:sp>
      <p:sp>
        <p:nvSpPr>
          <p:cNvPr id="16" name="Shape 13"/>
          <p:cNvSpPr/>
          <p:nvPr/>
        </p:nvSpPr>
        <p:spPr>
          <a:xfrm>
            <a:off x="7360920" y="3922776"/>
            <a:ext cx="4297680" cy="1078992"/>
          </a:xfrm>
          <a:prstGeom prst="roundRect">
            <a:avLst>
              <a:gd name="adj" fmla="val 8475"/>
            </a:avLst>
          </a:prstGeom>
          <a:solidFill>
            <a:srgbClr val="18122B"/>
          </a:solidFill>
          <a:ln/>
        </p:spPr>
      </p:sp>
      <p:sp>
        <p:nvSpPr>
          <p:cNvPr id="17" name="Shape 14"/>
          <p:cNvSpPr/>
          <p:nvPr/>
        </p:nvSpPr>
        <p:spPr>
          <a:xfrm>
            <a:off x="7543800" y="4105656"/>
            <a:ext cx="457200" cy="457200"/>
          </a:xfrm>
          <a:prstGeom prst="ellipse">
            <a:avLst/>
          </a:prstGeom>
          <a:solidFill>
            <a:srgbClr val="7C3AED"/>
          </a:solidFill>
          <a:ln/>
        </p:spPr>
      </p:sp>
      <p:sp>
        <p:nvSpPr>
          <p:cNvPr id="18" name="Text 15"/>
          <p:cNvSpPr/>
          <p:nvPr/>
        </p:nvSpPr>
        <p:spPr>
          <a:xfrm>
            <a:off x="7543800" y="410565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6"/>
          <p:cNvSpPr/>
          <p:nvPr/>
        </p:nvSpPr>
        <p:spPr>
          <a:xfrm>
            <a:off x="8183880" y="4059936"/>
            <a:ext cx="3291840" cy="292608"/>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Educator</a:t>
            </a:r>
            <a:endParaRPr lang="en-US" sz="1450" dirty="0"/>
          </a:p>
        </p:txBody>
      </p:sp>
      <p:sp>
        <p:nvSpPr>
          <p:cNvPr id="20" name="Text 17"/>
          <p:cNvSpPr/>
          <p:nvPr/>
        </p:nvSpPr>
        <p:spPr>
          <a:xfrm>
            <a:off x="8183880" y="4379976"/>
            <a:ext cx="3291840" cy="548640"/>
          </a:xfrm>
          <a:prstGeom prst="rect">
            <a:avLst/>
          </a:prstGeom>
          <a:noFill/>
          <a:ln/>
        </p:spPr>
        <p:txBody>
          <a:bodyPr wrap="square" rtlCol="0" anchor="ctr"/>
          <a:lstStyle/>
          <a:p>
            <a:pPr indent="0" marL="0">
              <a:buNone/>
            </a:pPr>
            <a:r>
              <a:rPr lang="en-US" sz="1150" dirty="0">
                <a:solidFill>
                  <a:srgbClr val="B7AECF"/>
                </a:solidFill>
                <a:latin typeface="Calibri" pitchFamily="34" charset="0"/>
                <a:ea typeface="Calibri" pitchFamily="34" charset="-122"/>
                <a:cs typeface="Calibri" pitchFamily="34" charset="-120"/>
              </a:rPr>
              <a:t>Share summaries, build learning materials, track engagement</a:t>
            </a:r>
            <a:endParaRPr lang="en-US" sz="1150" dirty="0"/>
          </a:p>
        </p:txBody>
      </p:sp>
      <p:sp>
        <p:nvSpPr>
          <p:cNvPr id="21" name="Shape 18"/>
          <p:cNvSpPr/>
          <p:nvPr/>
        </p:nvSpPr>
        <p:spPr>
          <a:xfrm>
            <a:off x="7360920" y="5129784"/>
            <a:ext cx="4297680" cy="1078992"/>
          </a:xfrm>
          <a:prstGeom prst="roundRect">
            <a:avLst>
              <a:gd name="adj" fmla="val 8475"/>
            </a:avLst>
          </a:prstGeom>
          <a:solidFill>
            <a:srgbClr val="18122B"/>
          </a:solidFill>
          <a:ln/>
        </p:spPr>
      </p:sp>
      <p:sp>
        <p:nvSpPr>
          <p:cNvPr id="22" name="Shape 19"/>
          <p:cNvSpPr/>
          <p:nvPr/>
        </p:nvSpPr>
        <p:spPr>
          <a:xfrm>
            <a:off x="7543800" y="5312664"/>
            <a:ext cx="457200" cy="457200"/>
          </a:xfrm>
          <a:prstGeom prst="ellipse">
            <a:avLst/>
          </a:prstGeom>
          <a:solidFill>
            <a:srgbClr val="D946EF"/>
          </a:solidFill>
          <a:ln/>
        </p:spPr>
      </p:sp>
      <p:sp>
        <p:nvSpPr>
          <p:cNvPr id="23" name="Text 20"/>
          <p:cNvSpPr/>
          <p:nvPr/>
        </p:nvSpPr>
        <p:spPr>
          <a:xfrm>
            <a:off x="7543800" y="531266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1"/>
          <p:cNvSpPr/>
          <p:nvPr/>
        </p:nvSpPr>
        <p:spPr>
          <a:xfrm>
            <a:off x="8183880" y="5266944"/>
            <a:ext cx="3291840" cy="292608"/>
          </a:xfrm>
          <a:prstGeom prst="rect">
            <a:avLst/>
          </a:prstGeom>
          <a:noFill/>
          <a:ln/>
        </p:spPr>
        <p:txBody>
          <a:bodyPr wrap="square"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Administrator</a:t>
            </a:r>
            <a:endParaRPr lang="en-US" sz="1450" dirty="0"/>
          </a:p>
        </p:txBody>
      </p:sp>
      <p:sp>
        <p:nvSpPr>
          <p:cNvPr id="25" name="Text 22"/>
          <p:cNvSpPr/>
          <p:nvPr/>
        </p:nvSpPr>
        <p:spPr>
          <a:xfrm>
            <a:off x="8183880" y="5586984"/>
            <a:ext cx="3291840" cy="548640"/>
          </a:xfrm>
          <a:prstGeom prst="rect">
            <a:avLst/>
          </a:prstGeom>
          <a:noFill/>
          <a:ln/>
        </p:spPr>
        <p:txBody>
          <a:bodyPr wrap="square" rtlCol="0" anchor="ctr"/>
          <a:lstStyle/>
          <a:p>
            <a:pPr indent="0" marL="0">
              <a:buNone/>
            </a:pPr>
            <a:r>
              <a:rPr lang="en-US" sz="1150" dirty="0">
                <a:solidFill>
                  <a:srgbClr val="B7AECF"/>
                </a:solidFill>
                <a:latin typeface="Calibri" pitchFamily="34" charset="0"/>
                <a:ea typeface="Calibri" pitchFamily="34" charset="-122"/>
                <a:cs typeface="Calibri" pitchFamily="34" charset="-120"/>
              </a:rPr>
              <a:t>Manage users, roles &amp; platform-wide activity</a:t>
            </a:r>
            <a:endParaRPr lang="en-US" sz="1150" dirty="0"/>
          </a:p>
        </p:txBody>
      </p:sp>
      <p:sp>
        <p:nvSpPr>
          <p:cNvPr id="26" name="Text 23"/>
          <p:cNvSpPr/>
          <p:nvPr/>
        </p:nvSpPr>
        <p:spPr>
          <a:xfrm>
            <a:off x="457200" y="6473952"/>
            <a:ext cx="4572000" cy="274320"/>
          </a:xfrm>
          <a:prstGeom prst="rect">
            <a:avLst/>
          </a:prstGeom>
          <a:noFill/>
          <a:ln/>
        </p:spPr>
        <p:txBody>
          <a:bodyPr wrap="square" lIns="0" tIns="0" rIns="0" bIns="0" rtlCol="0" anchor="ctr"/>
          <a:lstStyle/>
          <a:p>
            <a:pPr algn="l" indent="0" marL="0">
              <a:buNone/>
            </a:pPr>
            <a:r>
              <a:rPr lang="en-US" sz="900" dirty="0">
                <a:solidFill>
                  <a:srgbClr val="8A81A6"/>
                </a:solidFill>
                <a:latin typeface="Calibri" pitchFamily="34" charset="0"/>
                <a:ea typeface="Calibri" pitchFamily="34" charset="-122"/>
                <a:cs typeface="Calibri" pitchFamily="34" charset="-120"/>
              </a:rPr>
              <a:t>ClipMind AI  •  Milestone 1</a:t>
            </a:r>
            <a:endParaRPr lang="en-US" sz="900" dirty="0"/>
          </a:p>
        </p:txBody>
      </p:sp>
      <p:sp>
        <p:nvSpPr>
          <p:cNvPr id="27" name="Text 24"/>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8A81A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A16"/>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Admin Controls &amp; User Management</a:t>
            </a:r>
            <a:endParaRPr lang="en-US" sz="3000" dirty="0"/>
          </a:p>
        </p:txBody>
      </p:sp>
      <p:sp>
        <p:nvSpPr>
          <p:cNvPr id="3" name="Shape 1"/>
          <p:cNvSpPr/>
          <p:nvPr/>
        </p:nvSpPr>
        <p:spPr>
          <a:xfrm>
            <a:off x="466344" y="1152144"/>
            <a:ext cx="11228832" cy="3867912"/>
          </a:xfrm>
          <a:prstGeom prst="roundRect">
            <a:avLst>
              <a:gd name="adj" fmla="val 3310"/>
            </a:avLst>
          </a:prstGeom>
          <a:solidFill>
            <a:srgbClr val="1F1836"/>
          </a:solidFill>
          <a:ln w="12700">
            <a:solidFill>
              <a:srgbClr val="2E2650"/>
            </a:solidFill>
            <a:prstDash val="solid"/>
          </a:ln>
          <a:effectLst>
            <a:outerShdw sx="100000" sy="100000" kx="0" ky="0" algn="bl" rotWithShape="0" blurRad="152400" dist="50800" dir="5400000">
              <a:srgbClr val="000000">
                <a:alpha val="45000"/>
              </a:srgbClr>
            </a:outerShdw>
          </a:effectLst>
        </p:spPr>
      </p:sp>
      <p:pic>
        <p:nvPicPr>
          <p:cNvPr id="4" name="Image 0" descr="D:\me\intern\infosys-ai\imgs\user_management.webp">    </p:cNvPr>
          <p:cNvPicPr>
            <a:picLocks noChangeAspect="1"/>
          </p:cNvPicPr>
          <p:nvPr/>
        </p:nvPicPr>
        <p:blipFill>
          <a:blip r:embed="rId1"/>
          <a:stretch>
            <a:fillRect/>
          </a:stretch>
        </p:blipFill>
        <p:spPr>
          <a:xfrm>
            <a:off x="1985692" y="1234440"/>
            <a:ext cx="8190135" cy="3703320"/>
          </a:xfrm>
          <a:prstGeom prst="rect">
            <a:avLst/>
          </a:prstGeom>
        </p:spPr>
      </p:pic>
      <p:sp>
        <p:nvSpPr>
          <p:cNvPr id="5" name="Shape 2"/>
          <p:cNvSpPr/>
          <p:nvPr/>
        </p:nvSpPr>
        <p:spPr>
          <a:xfrm>
            <a:off x="548640" y="5166360"/>
            <a:ext cx="3630168" cy="960120"/>
          </a:xfrm>
          <a:prstGeom prst="roundRect">
            <a:avLst>
              <a:gd name="adj" fmla="val 9524"/>
            </a:avLst>
          </a:prstGeom>
          <a:solidFill>
            <a:srgbClr val="18122B"/>
          </a:solidFill>
          <a:ln/>
        </p:spPr>
      </p:sp>
      <p:sp>
        <p:nvSpPr>
          <p:cNvPr id="6" name="Text 3"/>
          <p:cNvSpPr/>
          <p:nvPr/>
        </p:nvSpPr>
        <p:spPr>
          <a:xfrm>
            <a:off x="749808" y="5276088"/>
            <a:ext cx="3227832" cy="310896"/>
          </a:xfrm>
          <a:prstGeom prst="rect">
            <a:avLst/>
          </a:prstGeom>
          <a:noFill/>
          <a:ln/>
        </p:spPr>
        <p:txBody>
          <a:bodyPr wrap="square" rtlCol="0" anchor="ctr"/>
          <a:lstStyle/>
          <a:p>
            <a:pPr indent="0" marL="0">
              <a:buNone/>
            </a:pPr>
            <a:r>
              <a:rPr lang="en-US" sz="1300" b="1" dirty="0">
                <a:solidFill>
                  <a:srgbClr val="F0ABFC"/>
                </a:solidFill>
                <a:latin typeface="Calibri" pitchFamily="34" charset="0"/>
                <a:ea typeface="Calibri" pitchFamily="34" charset="-122"/>
                <a:cs typeface="Calibri" pitchFamily="34" charset="-120"/>
              </a:rPr>
              <a:t>Real-time role changes</a:t>
            </a:r>
            <a:endParaRPr lang="en-US" sz="1300" dirty="0"/>
          </a:p>
        </p:txBody>
      </p:sp>
      <p:sp>
        <p:nvSpPr>
          <p:cNvPr id="7" name="Text 4"/>
          <p:cNvSpPr/>
          <p:nvPr/>
        </p:nvSpPr>
        <p:spPr>
          <a:xfrm>
            <a:off x="749808" y="5586984"/>
            <a:ext cx="3227832" cy="502920"/>
          </a:xfrm>
          <a:prstGeom prst="rect">
            <a:avLst/>
          </a:prstGeom>
          <a:noFill/>
          <a:ln/>
        </p:spPr>
        <p:txBody>
          <a:bodyPr wrap="square" rtlCol="0" anchor="ctr"/>
          <a:lstStyle/>
          <a:p>
            <a:pPr indent="0" marL="0">
              <a:buNone/>
            </a:pPr>
            <a:r>
              <a:rPr lang="en-US" sz="1050" dirty="0">
                <a:solidFill>
                  <a:srgbClr val="B7AECF"/>
                </a:solidFill>
                <a:latin typeface="Calibri" pitchFamily="34" charset="0"/>
                <a:ea typeface="Calibri" pitchFamily="34" charset="-122"/>
                <a:cs typeface="Calibri" pitchFamily="34" charset="-120"/>
              </a:rPr>
              <a:t>Promote or demote any user instantly — no redeploy needed</a:t>
            </a:r>
            <a:endParaRPr lang="en-US" sz="1050" dirty="0"/>
          </a:p>
        </p:txBody>
      </p:sp>
      <p:sp>
        <p:nvSpPr>
          <p:cNvPr id="8" name="Shape 5"/>
          <p:cNvSpPr/>
          <p:nvPr/>
        </p:nvSpPr>
        <p:spPr>
          <a:xfrm>
            <a:off x="4352544" y="5166360"/>
            <a:ext cx="3630168" cy="960120"/>
          </a:xfrm>
          <a:prstGeom prst="roundRect">
            <a:avLst>
              <a:gd name="adj" fmla="val 9524"/>
            </a:avLst>
          </a:prstGeom>
          <a:solidFill>
            <a:srgbClr val="18122B"/>
          </a:solidFill>
          <a:ln/>
        </p:spPr>
      </p:sp>
      <p:sp>
        <p:nvSpPr>
          <p:cNvPr id="9" name="Text 6"/>
          <p:cNvSpPr/>
          <p:nvPr/>
        </p:nvSpPr>
        <p:spPr>
          <a:xfrm>
            <a:off x="4553712" y="5276088"/>
            <a:ext cx="3227832" cy="310896"/>
          </a:xfrm>
          <a:prstGeom prst="rect">
            <a:avLst/>
          </a:prstGeom>
          <a:noFill/>
          <a:ln/>
        </p:spPr>
        <p:txBody>
          <a:bodyPr wrap="square" rtlCol="0" anchor="ctr"/>
          <a:lstStyle/>
          <a:p>
            <a:pPr indent="0" marL="0">
              <a:buNone/>
            </a:pPr>
            <a:r>
              <a:rPr lang="en-US" sz="1300" b="1" dirty="0">
                <a:solidFill>
                  <a:srgbClr val="F0ABFC"/>
                </a:solidFill>
                <a:latin typeface="Calibri" pitchFamily="34" charset="0"/>
                <a:ea typeface="Calibri" pitchFamily="34" charset="-122"/>
                <a:cs typeface="Calibri" pitchFamily="34" charset="-120"/>
              </a:rPr>
              <a:t>Secured admin API</a:t>
            </a:r>
            <a:endParaRPr lang="en-US" sz="1300" dirty="0"/>
          </a:p>
        </p:txBody>
      </p:sp>
      <p:sp>
        <p:nvSpPr>
          <p:cNvPr id="10" name="Text 7"/>
          <p:cNvSpPr/>
          <p:nvPr/>
        </p:nvSpPr>
        <p:spPr>
          <a:xfrm>
            <a:off x="4553712" y="5586984"/>
            <a:ext cx="3227832" cy="502920"/>
          </a:xfrm>
          <a:prstGeom prst="rect">
            <a:avLst/>
          </a:prstGeom>
          <a:noFill/>
          <a:ln/>
        </p:spPr>
        <p:txBody>
          <a:bodyPr wrap="square" rtlCol="0" anchor="ctr"/>
          <a:lstStyle/>
          <a:p>
            <a:pPr indent="0" marL="0">
              <a:buNone/>
            </a:pPr>
            <a:r>
              <a:rPr lang="en-US" sz="1050" dirty="0">
                <a:solidFill>
                  <a:srgbClr val="B7AECF"/>
                </a:solidFill>
                <a:latin typeface="Calibri" pitchFamily="34" charset="0"/>
                <a:ea typeface="Calibri" pitchFamily="34" charset="-122"/>
                <a:cs typeface="Calibri" pitchFamily="34" charset="-120"/>
              </a:rPr>
              <a:t>GET /api/admin/users &amp; PUT /api/admin/users/{id}/role, JWT-guarded</a:t>
            </a:r>
            <a:endParaRPr lang="en-US" sz="1050" dirty="0"/>
          </a:p>
        </p:txBody>
      </p:sp>
      <p:sp>
        <p:nvSpPr>
          <p:cNvPr id="11" name="Shape 8"/>
          <p:cNvSpPr/>
          <p:nvPr/>
        </p:nvSpPr>
        <p:spPr>
          <a:xfrm>
            <a:off x="8156448" y="5166360"/>
            <a:ext cx="3630168" cy="960120"/>
          </a:xfrm>
          <a:prstGeom prst="roundRect">
            <a:avLst>
              <a:gd name="adj" fmla="val 9524"/>
            </a:avLst>
          </a:prstGeom>
          <a:solidFill>
            <a:srgbClr val="18122B"/>
          </a:solidFill>
          <a:ln/>
        </p:spPr>
      </p:sp>
      <p:sp>
        <p:nvSpPr>
          <p:cNvPr id="12" name="Text 9"/>
          <p:cNvSpPr/>
          <p:nvPr/>
        </p:nvSpPr>
        <p:spPr>
          <a:xfrm>
            <a:off x="8357616" y="5276088"/>
            <a:ext cx="3227832" cy="310896"/>
          </a:xfrm>
          <a:prstGeom prst="rect">
            <a:avLst/>
          </a:prstGeom>
          <a:noFill/>
          <a:ln/>
        </p:spPr>
        <p:txBody>
          <a:bodyPr wrap="square" rtlCol="0" anchor="ctr"/>
          <a:lstStyle/>
          <a:p>
            <a:pPr indent="0" marL="0">
              <a:buNone/>
            </a:pPr>
            <a:r>
              <a:rPr lang="en-US" sz="1300" b="1" dirty="0">
                <a:solidFill>
                  <a:srgbClr val="F0ABFC"/>
                </a:solidFill>
                <a:latin typeface="Calibri" pitchFamily="34" charset="0"/>
                <a:ea typeface="Calibri" pitchFamily="34" charset="-122"/>
                <a:cs typeface="Calibri" pitchFamily="34" charset="-120"/>
              </a:rPr>
              <a:t>Live status monitoring</a:t>
            </a:r>
            <a:endParaRPr lang="en-US" sz="1300" dirty="0"/>
          </a:p>
        </p:txBody>
      </p:sp>
      <p:sp>
        <p:nvSpPr>
          <p:cNvPr id="13" name="Text 10"/>
          <p:cNvSpPr/>
          <p:nvPr/>
        </p:nvSpPr>
        <p:spPr>
          <a:xfrm>
            <a:off x="8357616" y="5586984"/>
            <a:ext cx="3227832" cy="502920"/>
          </a:xfrm>
          <a:prstGeom prst="rect">
            <a:avLst/>
          </a:prstGeom>
          <a:noFill/>
          <a:ln/>
        </p:spPr>
        <p:txBody>
          <a:bodyPr wrap="square" rtlCol="0" anchor="ctr"/>
          <a:lstStyle/>
          <a:p>
            <a:pPr indent="0" marL="0">
              <a:buNone/>
            </a:pPr>
            <a:r>
              <a:rPr lang="en-US" sz="1050" dirty="0">
                <a:solidFill>
                  <a:srgbClr val="B7AECF"/>
                </a:solidFill>
                <a:latin typeface="Calibri" pitchFamily="34" charset="0"/>
                <a:ea typeface="Calibri" pitchFamily="34" charset="-122"/>
                <a:cs typeface="Calibri" pitchFamily="34" charset="-120"/>
              </a:rPr>
              <a:t>Every account shows an Active / Inactive state at a glance</a:t>
            </a:r>
            <a:endParaRPr lang="en-US" sz="1050" dirty="0"/>
          </a:p>
        </p:txBody>
      </p:sp>
      <p:sp>
        <p:nvSpPr>
          <p:cNvPr id="14" name="Text 11"/>
          <p:cNvSpPr/>
          <p:nvPr/>
        </p:nvSpPr>
        <p:spPr>
          <a:xfrm>
            <a:off x="457200" y="6473952"/>
            <a:ext cx="4572000" cy="274320"/>
          </a:xfrm>
          <a:prstGeom prst="rect">
            <a:avLst/>
          </a:prstGeom>
          <a:noFill/>
          <a:ln/>
        </p:spPr>
        <p:txBody>
          <a:bodyPr wrap="square" lIns="0" tIns="0" rIns="0" bIns="0" rtlCol="0" anchor="ctr"/>
          <a:lstStyle/>
          <a:p>
            <a:pPr algn="l" indent="0" marL="0">
              <a:buNone/>
            </a:pPr>
            <a:r>
              <a:rPr lang="en-US" sz="900" dirty="0">
                <a:solidFill>
                  <a:srgbClr val="8A81A6"/>
                </a:solidFill>
                <a:latin typeface="Calibri" pitchFamily="34" charset="0"/>
                <a:ea typeface="Calibri" pitchFamily="34" charset="-122"/>
                <a:cs typeface="Calibri" pitchFamily="34" charset="-120"/>
              </a:rPr>
              <a:t>ClipMind AI  •  Milestone 1</a:t>
            </a:r>
            <a:endParaRPr lang="en-US" sz="900" dirty="0"/>
          </a:p>
        </p:txBody>
      </p:sp>
      <p:sp>
        <p:nvSpPr>
          <p:cNvPr id="15" name="Text 1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8A81A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A16"/>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Video Upload &amp; FFmpeg Pipeline</a:t>
            </a:r>
            <a:endParaRPr lang="en-US" sz="3000" dirty="0"/>
          </a:p>
        </p:txBody>
      </p:sp>
      <p:sp>
        <p:nvSpPr>
          <p:cNvPr id="3" name="Shape 1"/>
          <p:cNvSpPr/>
          <p:nvPr/>
        </p:nvSpPr>
        <p:spPr>
          <a:xfrm>
            <a:off x="466344" y="1335024"/>
            <a:ext cx="6108192" cy="4873752"/>
          </a:xfrm>
          <a:prstGeom prst="roundRect">
            <a:avLst>
              <a:gd name="adj" fmla="val 2627"/>
            </a:avLst>
          </a:prstGeom>
          <a:solidFill>
            <a:srgbClr val="1F1836"/>
          </a:solidFill>
          <a:ln w="12700">
            <a:solidFill>
              <a:srgbClr val="2E2650"/>
            </a:solidFill>
            <a:prstDash val="solid"/>
          </a:ln>
          <a:effectLst>
            <a:outerShdw sx="100000" sy="100000" kx="0" ky="0" algn="bl" rotWithShape="0" blurRad="152400" dist="50800" dir="5400000">
              <a:srgbClr val="000000">
                <a:alpha val="45000"/>
              </a:srgbClr>
            </a:outerShdw>
          </a:effectLst>
        </p:spPr>
      </p:sp>
      <p:pic>
        <p:nvPicPr>
          <p:cNvPr id="4" name="Image 0" descr="D:\me\intern\infosys-ai\imgs\upload_content.webp">    </p:cNvPr>
          <p:cNvPicPr>
            <a:picLocks noChangeAspect="1"/>
          </p:cNvPicPr>
          <p:nvPr/>
        </p:nvPicPr>
        <p:blipFill>
          <a:blip r:embed="rId1"/>
          <a:stretch>
            <a:fillRect/>
          </a:stretch>
        </p:blipFill>
        <p:spPr>
          <a:xfrm>
            <a:off x="548640" y="2354230"/>
            <a:ext cx="5943600" cy="2835340"/>
          </a:xfrm>
          <a:prstGeom prst="rect">
            <a:avLst/>
          </a:prstGeom>
        </p:spPr>
      </p:pic>
      <p:sp>
        <p:nvSpPr>
          <p:cNvPr id="5" name="Shape 2"/>
          <p:cNvSpPr/>
          <p:nvPr/>
        </p:nvSpPr>
        <p:spPr>
          <a:xfrm>
            <a:off x="6858000" y="1463040"/>
            <a:ext cx="402336" cy="402336"/>
          </a:xfrm>
          <a:prstGeom prst="ellipse">
            <a:avLst/>
          </a:prstGeom>
          <a:solidFill>
            <a:srgbClr val="7C3AED"/>
          </a:solidFill>
          <a:ln/>
        </p:spPr>
      </p:sp>
      <p:sp>
        <p:nvSpPr>
          <p:cNvPr id="6" name="Text 3"/>
          <p:cNvSpPr/>
          <p:nvPr/>
        </p:nvSpPr>
        <p:spPr>
          <a:xfrm>
            <a:off x="685800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p:nvPr/>
        </p:nvSpPr>
        <p:spPr>
          <a:xfrm>
            <a:off x="7452360" y="1408176"/>
            <a:ext cx="4206240" cy="6858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Video is uploaded &amp; validated (MP4/MOV/AVI/WebM, up to 2GB)</a:t>
            </a:r>
            <a:endParaRPr lang="en-US" sz="1300" dirty="0"/>
          </a:p>
        </p:txBody>
      </p:sp>
      <p:sp>
        <p:nvSpPr>
          <p:cNvPr id="8" name="Shape 5"/>
          <p:cNvSpPr/>
          <p:nvPr/>
        </p:nvSpPr>
        <p:spPr>
          <a:xfrm>
            <a:off x="7059168" y="1865376"/>
            <a:ext cx="0" cy="502920"/>
          </a:xfrm>
          <a:prstGeom prst="line">
            <a:avLst/>
          </a:prstGeom>
          <a:noFill/>
          <a:ln w="19050">
            <a:solidFill>
              <a:srgbClr val="2E2650"/>
            </a:solidFill>
            <a:prstDash val="dash"/>
          </a:ln>
        </p:spPr>
      </p:sp>
      <p:sp>
        <p:nvSpPr>
          <p:cNvPr id="9" name="Shape 6"/>
          <p:cNvSpPr/>
          <p:nvPr/>
        </p:nvSpPr>
        <p:spPr>
          <a:xfrm>
            <a:off x="6858000" y="2368296"/>
            <a:ext cx="402336" cy="402336"/>
          </a:xfrm>
          <a:prstGeom prst="ellipse">
            <a:avLst/>
          </a:prstGeom>
          <a:solidFill>
            <a:srgbClr val="7C3AED"/>
          </a:solidFill>
          <a:ln/>
        </p:spPr>
      </p:sp>
      <p:sp>
        <p:nvSpPr>
          <p:cNvPr id="10" name="Text 7"/>
          <p:cNvSpPr/>
          <p:nvPr/>
        </p:nvSpPr>
        <p:spPr>
          <a:xfrm>
            <a:off x="6858000" y="23682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p:nvPr/>
        </p:nvSpPr>
        <p:spPr>
          <a:xfrm>
            <a:off x="7452360" y="2313432"/>
            <a:ext cx="4206240" cy="6858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File is saved to storage; a background task is queued</a:t>
            </a:r>
            <a:endParaRPr lang="en-US" sz="1300" dirty="0"/>
          </a:p>
        </p:txBody>
      </p:sp>
      <p:sp>
        <p:nvSpPr>
          <p:cNvPr id="12" name="Shape 9"/>
          <p:cNvSpPr/>
          <p:nvPr/>
        </p:nvSpPr>
        <p:spPr>
          <a:xfrm>
            <a:off x="7059168" y="2770632"/>
            <a:ext cx="0" cy="502920"/>
          </a:xfrm>
          <a:prstGeom prst="line">
            <a:avLst/>
          </a:prstGeom>
          <a:noFill/>
          <a:ln w="19050">
            <a:solidFill>
              <a:srgbClr val="2E2650"/>
            </a:solidFill>
            <a:prstDash val="dash"/>
          </a:ln>
        </p:spPr>
      </p:sp>
      <p:sp>
        <p:nvSpPr>
          <p:cNvPr id="13" name="Shape 10"/>
          <p:cNvSpPr/>
          <p:nvPr/>
        </p:nvSpPr>
        <p:spPr>
          <a:xfrm>
            <a:off x="6858000" y="3273552"/>
            <a:ext cx="402336" cy="402336"/>
          </a:xfrm>
          <a:prstGeom prst="ellipse">
            <a:avLst/>
          </a:prstGeom>
          <a:solidFill>
            <a:srgbClr val="7C3AED"/>
          </a:solidFill>
          <a:ln/>
        </p:spPr>
      </p:sp>
      <p:sp>
        <p:nvSpPr>
          <p:cNvPr id="14" name="Text 11"/>
          <p:cNvSpPr/>
          <p:nvPr/>
        </p:nvSpPr>
        <p:spPr>
          <a:xfrm>
            <a:off x="6858000" y="327355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p:nvPr/>
        </p:nvSpPr>
        <p:spPr>
          <a:xfrm>
            <a:off x="7452360" y="3218688"/>
            <a:ext cx="4206240" cy="6858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FFmpeg extracts a thumbnail frame from the video</a:t>
            </a:r>
            <a:endParaRPr lang="en-US" sz="1300" dirty="0"/>
          </a:p>
        </p:txBody>
      </p:sp>
      <p:sp>
        <p:nvSpPr>
          <p:cNvPr id="16" name="Shape 13"/>
          <p:cNvSpPr/>
          <p:nvPr/>
        </p:nvSpPr>
        <p:spPr>
          <a:xfrm>
            <a:off x="7059168" y="3675888"/>
            <a:ext cx="0" cy="502920"/>
          </a:xfrm>
          <a:prstGeom prst="line">
            <a:avLst/>
          </a:prstGeom>
          <a:noFill/>
          <a:ln w="19050">
            <a:solidFill>
              <a:srgbClr val="2E2650"/>
            </a:solidFill>
            <a:prstDash val="dash"/>
          </a:ln>
        </p:spPr>
      </p:sp>
      <p:sp>
        <p:nvSpPr>
          <p:cNvPr id="17" name="Shape 14"/>
          <p:cNvSpPr/>
          <p:nvPr/>
        </p:nvSpPr>
        <p:spPr>
          <a:xfrm>
            <a:off x="6858000" y="4178808"/>
            <a:ext cx="402336" cy="402336"/>
          </a:xfrm>
          <a:prstGeom prst="ellipse">
            <a:avLst/>
          </a:prstGeom>
          <a:solidFill>
            <a:srgbClr val="7C3AED"/>
          </a:solidFill>
          <a:ln/>
        </p:spPr>
      </p:sp>
      <p:sp>
        <p:nvSpPr>
          <p:cNvPr id="18" name="Text 15"/>
          <p:cNvSpPr/>
          <p:nvPr/>
        </p:nvSpPr>
        <p:spPr>
          <a:xfrm>
            <a:off x="6858000" y="417880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6"/>
          <p:cNvSpPr/>
          <p:nvPr/>
        </p:nvSpPr>
        <p:spPr>
          <a:xfrm>
            <a:off x="7452360" y="4123944"/>
            <a:ext cx="4206240" cy="6858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Backend simulates a 5-second processing delay</a:t>
            </a:r>
            <a:endParaRPr lang="en-US" sz="1300" dirty="0"/>
          </a:p>
        </p:txBody>
      </p:sp>
      <p:sp>
        <p:nvSpPr>
          <p:cNvPr id="20" name="Shape 17"/>
          <p:cNvSpPr/>
          <p:nvPr/>
        </p:nvSpPr>
        <p:spPr>
          <a:xfrm>
            <a:off x="7059168" y="4581144"/>
            <a:ext cx="0" cy="502920"/>
          </a:xfrm>
          <a:prstGeom prst="line">
            <a:avLst/>
          </a:prstGeom>
          <a:noFill/>
          <a:ln w="19050">
            <a:solidFill>
              <a:srgbClr val="2E2650"/>
            </a:solidFill>
            <a:prstDash val="dash"/>
          </a:ln>
        </p:spPr>
      </p:sp>
      <p:sp>
        <p:nvSpPr>
          <p:cNvPr id="21" name="Shape 18"/>
          <p:cNvSpPr/>
          <p:nvPr/>
        </p:nvSpPr>
        <p:spPr>
          <a:xfrm>
            <a:off x="6858000" y="5084064"/>
            <a:ext cx="402336" cy="402336"/>
          </a:xfrm>
          <a:prstGeom prst="ellipse">
            <a:avLst/>
          </a:prstGeom>
          <a:solidFill>
            <a:srgbClr val="34D399"/>
          </a:solidFill>
          <a:ln/>
        </p:spPr>
      </p:sp>
      <p:sp>
        <p:nvSpPr>
          <p:cNvPr id="22" name="Text 19"/>
          <p:cNvSpPr/>
          <p:nvPr/>
        </p:nvSpPr>
        <p:spPr>
          <a:xfrm>
            <a:off x="6858000" y="5084064"/>
            <a:ext cx="402336" cy="402336"/>
          </a:xfrm>
          <a:prstGeom prst="rect">
            <a:avLst/>
          </a:prstGeom>
          <a:noFill/>
          <a:ln/>
        </p:spPr>
        <p:txBody>
          <a:bodyPr wrap="square" lIns="0" tIns="0" rIns="0" bIns="0" rtlCol="0" anchor="ctr"/>
          <a:lstStyle/>
          <a:p>
            <a:pPr algn="ctr" indent="0" marL="0">
              <a:buNone/>
            </a:pPr>
            <a:r>
              <a:rPr lang="en-US" sz="1500" b="1" dirty="0">
                <a:solidFill>
                  <a:srgbClr val="0D0A16"/>
                </a:solidFill>
                <a:latin typeface="Calibri" pitchFamily="34" charset="0"/>
                <a:ea typeface="Calibri" pitchFamily="34" charset="-122"/>
                <a:cs typeface="Calibri" pitchFamily="34" charset="-120"/>
              </a:rPr>
              <a:t>5</a:t>
            </a:r>
            <a:endParaRPr lang="en-US" sz="1500" dirty="0"/>
          </a:p>
        </p:txBody>
      </p:sp>
      <p:sp>
        <p:nvSpPr>
          <p:cNvPr id="23" name="Text 20"/>
          <p:cNvSpPr/>
          <p:nvPr/>
        </p:nvSpPr>
        <p:spPr>
          <a:xfrm>
            <a:off x="7452360" y="5029200"/>
            <a:ext cx="4206240" cy="68580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Video status flips to “completed” — ready for the dashboard</a:t>
            </a:r>
            <a:endParaRPr lang="en-US" sz="1300" dirty="0"/>
          </a:p>
        </p:txBody>
      </p:sp>
      <p:sp>
        <p:nvSpPr>
          <p:cNvPr id="24" name="Text 21"/>
          <p:cNvSpPr/>
          <p:nvPr/>
        </p:nvSpPr>
        <p:spPr>
          <a:xfrm>
            <a:off x="457200" y="6473952"/>
            <a:ext cx="4572000" cy="274320"/>
          </a:xfrm>
          <a:prstGeom prst="rect">
            <a:avLst/>
          </a:prstGeom>
          <a:noFill/>
          <a:ln/>
        </p:spPr>
        <p:txBody>
          <a:bodyPr wrap="square" lIns="0" tIns="0" rIns="0" bIns="0" rtlCol="0" anchor="ctr"/>
          <a:lstStyle/>
          <a:p>
            <a:pPr algn="l" indent="0" marL="0">
              <a:buNone/>
            </a:pPr>
            <a:r>
              <a:rPr lang="en-US" sz="900" dirty="0">
                <a:solidFill>
                  <a:srgbClr val="8A81A6"/>
                </a:solidFill>
                <a:latin typeface="Calibri" pitchFamily="34" charset="0"/>
                <a:ea typeface="Calibri" pitchFamily="34" charset="-122"/>
                <a:cs typeface="Calibri" pitchFamily="34" charset="-120"/>
              </a:rPr>
              <a:t>ClipMind AI  •  Milestone 1</a:t>
            </a:r>
            <a:endParaRPr lang="en-US" sz="900" dirty="0"/>
          </a:p>
        </p:txBody>
      </p:sp>
      <p:sp>
        <p:nvSpPr>
          <p:cNvPr id="25" name="Text 2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8A81A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A16"/>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Milestone 1 Checklist &amp; Achievements</a:t>
            </a:r>
            <a:endParaRPr lang="en-US" sz="3000" dirty="0"/>
          </a:p>
        </p:txBody>
      </p:sp>
      <p:sp>
        <p:nvSpPr>
          <p:cNvPr id="3" name="Shape 1"/>
          <p:cNvSpPr/>
          <p:nvPr/>
        </p:nvSpPr>
        <p:spPr>
          <a:xfrm>
            <a:off x="548640" y="1417320"/>
            <a:ext cx="3630168" cy="2011680"/>
          </a:xfrm>
          <a:prstGeom prst="roundRect">
            <a:avLst>
              <a:gd name="adj" fmla="val 5455"/>
            </a:avLst>
          </a:prstGeom>
          <a:solidFill>
            <a:srgbClr val="18122B"/>
          </a:solidFill>
          <a:ln/>
        </p:spPr>
      </p:sp>
      <p:sp>
        <p:nvSpPr>
          <p:cNvPr id="4" name="Shape 2"/>
          <p:cNvSpPr/>
          <p:nvPr/>
        </p:nvSpPr>
        <p:spPr>
          <a:xfrm>
            <a:off x="804672" y="1673352"/>
            <a:ext cx="457200" cy="457200"/>
          </a:xfrm>
          <a:prstGeom prst="ellipse">
            <a:avLst/>
          </a:prstGeom>
          <a:solidFill>
            <a:srgbClr val="34D399"/>
          </a:solidFill>
          <a:ln/>
        </p:spPr>
      </p:sp>
      <p:sp>
        <p:nvSpPr>
          <p:cNvPr id="5" name="Text 3"/>
          <p:cNvSpPr/>
          <p:nvPr/>
        </p:nvSpPr>
        <p:spPr>
          <a:xfrm>
            <a:off x="804672" y="1673352"/>
            <a:ext cx="457200" cy="457200"/>
          </a:xfrm>
          <a:prstGeom prst="rect">
            <a:avLst/>
          </a:prstGeom>
          <a:noFill/>
          <a:ln/>
        </p:spPr>
        <p:txBody>
          <a:bodyPr wrap="square" lIns="0" tIns="0" rIns="0" bIns="0" rtlCol="0" anchor="ctr"/>
          <a:lstStyle/>
          <a:p>
            <a:pPr algn="ctr" indent="0" marL="0">
              <a:buNone/>
            </a:pPr>
            <a:r>
              <a:rPr lang="en-US" sz="1800" b="1" dirty="0">
                <a:solidFill>
                  <a:srgbClr val="0D0A16"/>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804672" y="2286000"/>
            <a:ext cx="3118104" cy="5029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Tech stack initialized</a:t>
            </a:r>
            <a:endParaRPr lang="en-US" sz="1500" dirty="0"/>
          </a:p>
        </p:txBody>
      </p:sp>
      <p:sp>
        <p:nvSpPr>
          <p:cNvPr id="7" name="Text 5"/>
          <p:cNvSpPr/>
          <p:nvPr/>
        </p:nvSpPr>
        <p:spPr>
          <a:xfrm>
            <a:off x="804672" y="2770632"/>
            <a:ext cx="3118104" cy="594360"/>
          </a:xfrm>
          <a:prstGeom prst="rect">
            <a:avLst/>
          </a:prstGeom>
          <a:noFill/>
          <a:ln/>
        </p:spPr>
        <p:txBody>
          <a:bodyPr wrap="square" rtlCol="0" anchor="ctr"/>
          <a:lstStyle/>
          <a:p>
            <a:pPr indent="0" marL="0">
              <a:buNone/>
            </a:pPr>
            <a:r>
              <a:rPr lang="en-US" sz="1150" dirty="0">
                <a:solidFill>
                  <a:srgbClr val="B7AECF"/>
                </a:solidFill>
                <a:latin typeface="Calibri" pitchFamily="34" charset="0"/>
                <a:ea typeface="Calibri" pitchFamily="34" charset="-122"/>
                <a:cs typeface="Calibri" pitchFamily="34" charset="-120"/>
              </a:rPr>
              <a:t>Next.js + FastAPI + PostgreSQL, fully wired end to end</a:t>
            </a:r>
            <a:endParaRPr lang="en-US" sz="1150" dirty="0"/>
          </a:p>
        </p:txBody>
      </p:sp>
      <p:sp>
        <p:nvSpPr>
          <p:cNvPr id="8" name="Shape 6"/>
          <p:cNvSpPr/>
          <p:nvPr/>
        </p:nvSpPr>
        <p:spPr>
          <a:xfrm>
            <a:off x="4352544" y="1417320"/>
            <a:ext cx="3630168" cy="2011680"/>
          </a:xfrm>
          <a:prstGeom prst="roundRect">
            <a:avLst>
              <a:gd name="adj" fmla="val 5455"/>
            </a:avLst>
          </a:prstGeom>
          <a:solidFill>
            <a:srgbClr val="18122B"/>
          </a:solidFill>
          <a:ln/>
        </p:spPr>
      </p:sp>
      <p:sp>
        <p:nvSpPr>
          <p:cNvPr id="9" name="Shape 7"/>
          <p:cNvSpPr/>
          <p:nvPr/>
        </p:nvSpPr>
        <p:spPr>
          <a:xfrm>
            <a:off x="4608576" y="1673352"/>
            <a:ext cx="457200" cy="457200"/>
          </a:xfrm>
          <a:prstGeom prst="ellipse">
            <a:avLst/>
          </a:prstGeom>
          <a:solidFill>
            <a:srgbClr val="34D399"/>
          </a:solidFill>
          <a:ln/>
        </p:spPr>
      </p:sp>
      <p:sp>
        <p:nvSpPr>
          <p:cNvPr id="10" name="Text 8"/>
          <p:cNvSpPr/>
          <p:nvPr/>
        </p:nvSpPr>
        <p:spPr>
          <a:xfrm>
            <a:off x="4608576" y="1673352"/>
            <a:ext cx="457200" cy="457200"/>
          </a:xfrm>
          <a:prstGeom prst="rect">
            <a:avLst/>
          </a:prstGeom>
          <a:noFill/>
          <a:ln/>
        </p:spPr>
        <p:txBody>
          <a:bodyPr wrap="square" lIns="0" tIns="0" rIns="0" bIns="0" rtlCol="0" anchor="ctr"/>
          <a:lstStyle/>
          <a:p>
            <a:pPr algn="ctr" indent="0" marL="0">
              <a:buNone/>
            </a:pPr>
            <a:r>
              <a:rPr lang="en-US" sz="1800" b="1" dirty="0">
                <a:solidFill>
                  <a:srgbClr val="0D0A16"/>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4608576" y="2286000"/>
            <a:ext cx="3118104" cy="5029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Auth &amp; RBAC live</a:t>
            </a:r>
            <a:endParaRPr lang="en-US" sz="1500" dirty="0"/>
          </a:p>
        </p:txBody>
      </p:sp>
      <p:sp>
        <p:nvSpPr>
          <p:cNvPr id="12" name="Text 10"/>
          <p:cNvSpPr/>
          <p:nvPr/>
        </p:nvSpPr>
        <p:spPr>
          <a:xfrm>
            <a:off x="4608576" y="2770632"/>
            <a:ext cx="3118104" cy="594360"/>
          </a:xfrm>
          <a:prstGeom prst="rect">
            <a:avLst/>
          </a:prstGeom>
          <a:noFill/>
          <a:ln/>
        </p:spPr>
        <p:txBody>
          <a:bodyPr wrap="square" rtlCol="0" anchor="ctr"/>
          <a:lstStyle/>
          <a:p>
            <a:pPr indent="0" marL="0">
              <a:buNone/>
            </a:pPr>
            <a:r>
              <a:rPr lang="en-US" sz="1150" dirty="0">
                <a:solidFill>
                  <a:srgbClr val="B7AECF"/>
                </a:solidFill>
                <a:latin typeface="Calibri" pitchFamily="34" charset="0"/>
                <a:ea typeface="Calibri" pitchFamily="34" charset="-122"/>
                <a:cs typeface="Calibri" pitchFamily="34" charset="-120"/>
              </a:rPr>
              <a:t>JWT login, 4 personas, dynamic sidebar &amp; routing</a:t>
            </a:r>
            <a:endParaRPr lang="en-US" sz="1150" dirty="0"/>
          </a:p>
        </p:txBody>
      </p:sp>
      <p:sp>
        <p:nvSpPr>
          <p:cNvPr id="13" name="Shape 11"/>
          <p:cNvSpPr/>
          <p:nvPr/>
        </p:nvSpPr>
        <p:spPr>
          <a:xfrm>
            <a:off x="8156448" y="1417320"/>
            <a:ext cx="3630168" cy="2011680"/>
          </a:xfrm>
          <a:prstGeom prst="roundRect">
            <a:avLst>
              <a:gd name="adj" fmla="val 5455"/>
            </a:avLst>
          </a:prstGeom>
          <a:solidFill>
            <a:srgbClr val="18122B"/>
          </a:solidFill>
          <a:ln/>
        </p:spPr>
      </p:sp>
      <p:sp>
        <p:nvSpPr>
          <p:cNvPr id="14" name="Shape 12"/>
          <p:cNvSpPr/>
          <p:nvPr/>
        </p:nvSpPr>
        <p:spPr>
          <a:xfrm>
            <a:off x="8412480" y="1673352"/>
            <a:ext cx="457200" cy="457200"/>
          </a:xfrm>
          <a:prstGeom prst="ellipse">
            <a:avLst/>
          </a:prstGeom>
          <a:solidFill>
            <a:srgbClr val="34D399"/>
          </a:solidFill>
          <a:ln/>
        </p:spPr>
      </p:sp>
      <p:sp>
        <p:nvSpPr>
          <p:cNvPr id="15" name="Text 13"/>
          <p:cNvSpPr/>
          <p:nvPr/>
        </p:nvSpPr>
        <p:spPr>
          <a:xfrm>
            <a:off x="8412480" y="1673352"/>
            <a:ext cx="457200" cy="457200"/>
          </a:xfrm>
          <a:prstGeom prst="rect">
            <a:avLst/>
          </a:prstGeom>
          <a:noFill/>
          <a:ln/>
        </p:spPr>
        <p:txBody>
          <a:bodyPr wrap="square" lIns="0" tIns="0" rIns="0" bIns="0" rtlCol="0" anchor="ctr"/>
          <a:lstStyle/>
          <a:p>
            <a:pPr algn="ctr" indent="0" marL="0">
              <a:buNone/>
            </a:pPr>
            <a:r>
              <a:rPr lang="en-US" sz="1800" b="1" dirty="0">
                <a:solidFill>
                  <a:srgbClr val="0D0A16"/>
                </a:solidFill>
                <a:latin typeface="Calibri" pitchFamily="34" charset="0"/>
                <a:ea typeface="Calibri" pitchFamily="34" charset="-122"/>
                <a:cs typeface="Calibri" pitchFamily="34" charset="-120"/>
              </a:rPr>
              <a:t>✓</a:t>
            </a:r>
            <a:endParaRPr lang="en-US" sz="1800" dirty="0"/>
          </a:p>
        </p:txBody>
      </p:sp>
      <p:sp>
        <p:nvSpPr>
          <p:cNvPr id="16" name="Text 14"/>
          <p:cNvSpPr/>
          <p:nvPr/>
        </p:nvSpPr>
        <p:spPr>
          <a:xfrm>
            <a:off x="8412480" y="2286000"/>
            <a:ext cx="3118104" cy="5029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Database automated</a:t>
            </a:r>
            <a:endParaRPr lang="en-US" sz="1500" dirty="0"/>
          </a:p>
        </p:txBody>
      </p:sp>
      <p:sp>
        <p:nvSpPr>
          <p:cNvPr id="17" name="Text 15"/>
          <p:cNvSpPr/>
          <p:nvPr/>
        </p:nvSpPr>
        <p:spPr>
          <a:xfrm>
            <a:off x="8412480" y="2770632"/>
            <a:ext cx="3118104" cy="594360"/>
          </a:xfrm>
          <a:prstGeom prst="rect">
            <a:avLst/>
          </a:prstGeom>
          <a:noFill/>
          <a:ln/>
        </p:spPr>
        <p:txBody>
          <a:bodyPr wrap="square" rtlCol="0" anchor="ctr"/>
          <a:lstStyle/>
          <a:p>
            <a:pPr indent="0" marL="0">
              <a:buNone/>
            </a:pPr>
            <a:r>
              <a:rPr lang="en-US" sz="1150" dirty="0">
                <a:solidFill>
                  <a:srgbClr val="B7AECF"/>
                </a:solidFill>
                <a:latin typeface="Calibri" pitchFamily="34" charset="0"/>
                <a:ea typeface="Calibri" pitchFamily="34" charset="-122"/>
                <a:cs typeface="Calibri" pitchFamily="34" charset="-120"/>
              </a:rPr>
              <a:t>SQLAlchemy models auto-create Users &amp; Videos on startup</a:t>
            </a:r>
            <a:endParaRPr lang="en-US" sz="1150" dirty="0"/>
          </a:p>
        </p:txBody>
      </p:sp>
      <p:sp>
        <p:nvSpPr>
          <p:cNvPr id="18" name="Shape 16"/>
          <p:cNvSpPr/>
          <p:nvPr/>
        </p:nvSpPr>
        <p:spPr>
          <a:xfrm>
            <a:off x="548640" y="3602736"/>
            <a:ext cx="3630168" cy="2011680"/>
          </a:xfrm>
          <a:prstGeom prst="roundRect">
            <a:avLst>
              <a:gd name="adj" fmla="val 5455"/>
            </a:avLst>
          </a:prstGeom>
          <a:solidFill>
            <a:srgbClr val="18122B"/>
          </a:solidFill>
          <a:ln/>
        </p:spPr>
      </p:sp>
      <p:sp>
        <p:nvSpPr>
          <p:cNvPr id="19" name="Shape 17"/>
          <p:cNvSpPr/>
          <p:nvPr/>
        </p:nvSpPr>
        <p:spPr>
          <a:xfrm>
            <a:off x="804672" y="3858768"/>
            <a:ext cx="457200" cy="457200"/>
          </a:xfrm>
          <a:prstGeom prst="ellipse">
            <a:avLst/>
          </a:prstGeom>
          <a:solidFill>
            <a:srgbClr val="34D399"/>
          </a:solidFill>
          <a:ln/>
        </p:spPr>
      </p:sp>
      <p:sp>
        <p:nvSpPr>
          <p:cNvPr id="20" name="Text 18"/>
          <p:cNvSpPr/>
          <p:nvPr/>
        </p:nvSpPr>
        <p:spPr>
          <a:xfrm>
            <a:off x="804672" y="3858768"/>
            <a:ext cx="457200" cy="457200"/>
          </a:xfrm>
          <a:prstGeom prst="rect">
            <a:avLst/>
          </a:prstGeom>
          <a:noFill/>
          <a:ln/>
        </p:spPr>
        <p:txBody>
          <a:bodyPr wrap="square" lIns="0" tIns="0" rIns="0" bIns="0" rtlCol="0" anchor="ctr"/>
          <a:lstStyle/>
          <a:p>
            <a:pPr algn="ctr" indent="0" marL="0">
              <a:buNone/>
            </a:pPr>
            <a:r>
              <a:rPr lang="en-US" sz="1800" b="1" dirty="0">
                <a:solidFill>
                  <a:srgbClr val="0D0A16"/>
                </a:solidFill>
                <a:latin typeface="Calibri" pitchFamily="34" charset="0"/>
                <a:ea typeface="Calibri" pitchFamily="34" charset="-122"/>
                <a:cs typeface="Calibri" pitchFamily="34" charset="-120"/>
              </a:rPr>
              <a:t>✓</a:t>
            </a:r>
            <a:endParaRPr lang="en-US" sz="1800" dirty="0"/>
          </a:p>
        </p:txBody>
      </p:sp>
      <p:sp>
        <p:nvSpPr>
          <p:cNvPr id="21" name="Text 19"/>
          <p:cNvSpPr/>
          <p:nvPr/>
        </p:nvSpPr>
        <p:spPr>
          <a:xfrm>
            <a:off x="804672" y="4471416"/>
            <a:ext cx="3118104" cy="5029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Video upload pipeline</a:t>
            </a:r>
            <a:endParaRPr lang="en-US" sz="1500" dirty="0"/>
          </a:p>
        </p:txBody>
      </p:sp>
      <p:sp>
        <p:nvSpPr>
          <p:cNvPr id="22" name="Text 20"/>
          <p:cNvSpPr/>
          <p:nvPr/>
        </p:nvSpPr>
        <p:spPr>
          <a:xfrm>
            <a:off x="804672" y="4956048"/>
            <a:ext cx="3118104" cy="594360"/>
          </a:xfrm>
          <a:prstGeom prst="rect">
            <a:avLst/>
          </a:prstGeom>
          <a:noFill/>
          <a:ln/>
        </p:spPr>
        <p:txBody>
          <a:bodyPr wrap="square" rtlCol="0" anchor="ctr"/>
          <a:lstStyle/>
          <a:p>
            <a:pPr indent="0" marL="0">
              <a:buNone/>
            </a:pPr>
            <a:r>
              <a:rPr lang="en-US" sz="1150" dirty="0">
                <a:solidFill>
                  <a:srgbClr val="B7AECF"/>
                </a:solidFill>
                <a:latin typeface="Calibri" pitchFamily="34" charset="0"/>
                <a:ea typeface="Calibri" pitchFamily="34" charset="-122"/>
                <a:cs typeface="Calibri" pitchFamily="34" charset="-120"/>
              </a:rPr>
              <a:t>Validation, storage, background FFmpeg thumbnailing</a:t>
            </a:r>
            <a:endParaRPr lang="en-US" sz="1150" dirty="0"/>
          </a:p>
        </p:txBody>
      </p:sp>
      <p:sp>
        <p:nvSpPr>
          <p:cNvPr id="23" name="Shape 21"/>
          <p:cNvSpPr/>
          <p:nvPr/>
        </p:nvSpPr>
        <p:spPr>
          <a:xfrm>
            <a:off x="4352544" y="3602736"/>
            <a:ext cx="3630168" cy="2011680"/>
          </a:xfrm>
          <a:prstGeom prst="roundRect">
            <a:avLst>
              <a:gd name="adj" fmla="val 5455"/>
            </a:avLst>
          </a:prstGeom>
          <a:solidFill>
            <a:srgbClr val="18122B"/>
          </a:solidFill>
          <a:ln/>
        </p:spPr>
      </p:sp>
      <p:sp>
        <p:nvSpPr>
          <p:cNvPr id="24" name="Shape 22"/>
          <p:cNvSpPr/>
          <p:nvPr/>
        </p:nvSpPr>
        <p:spPr>
          <a:xfrm>
            <a:off x="4608576" y="3858768"/>
            <a:ext cx="457200" cy="457200"/>
          </a:xfrm>
          <a:prstGeom prst="ellipse">
            <a:avLst/>
          </a:prstGeom>
          <a:solidFill>
            <a:srgbClr val="34D399"/>
          </a:solidFill>
          <a:ln/>
        </p:spPr>
      </p:sp>
      <p:sp>
        <p:nvSpPr>
          <p:cNvPr id="25" name="Text 23"/>
          <p:cNvSpPr/>
          <p:nvPr/>
        </p:nvSpPr>
        <p:spPr>
          <a:xfrm>
            <a:off x="4608576" y="3858768"/>
            <a:ext cx="457200" cy="457200"/>
          </a:xfrm>
          <a:prstGeom prst="rect">
            <a:avLst/>
          </a:prstGeom>
          <a:noFill/>
          <a:ln/>
        </p:spPr>
        <p:txBody>
          <a:bodyPr wrap="square" lIns="0" tIns="0" rIns="0" bIns="0" rtlCol="0" anchor="ctr"/>
          <a:lstStyle/>
          <a:p>
            <a:pPr algn="ctr" indent="0" marL="0">
              <a:buNone/>
            </a:pPr>
            <a:r>
              <a:rPr lang="en-US" sz="1800" b="1" dirty="0">
                <a:solidFill>
                  <a:srgbClr val="0D0A16"/>
                </a:solidFill>
                <a:latin typeface="Calibri" pitchFamily="34" charset="0"/>
                <a:ea typeface="Calibri" pitchFamily="34" charset="-122"/>
                <a:cs typeface="Calibri" pitchFamily="34" charset="-120"/>
              </a:rPr>
              <a:t>✓</a:t>
            </a:r>
            <a:endParaRPr lang="en-US" sz="1800" dirty="0"/>
          </a:p>
        </p:txBody>
      </p:sp>
      <p:sp>
        <p:nvSpPr>
          <p:cNvPr id="26" name="Text 24"/>
          <p:cNvSpPr/>
          <p:nvPr/>
        </p:nvSpPr>
        <p:spPr>
          <a:xfrm>
            <a:off x="4608576" y="4471416"/>
            <a:ext cx="3118104" cy="5029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Premium UI shipped</a:t>
            </a:r>
            <a:endParaRPr lang="en-US" sz="1500" dirty="0"/>
          </a:p>
        </p:txBody>
      </p:sp>
      <p:sp>
        <p:nvSpPr>
          <p:cNvPr id="27" name="Text 25"/>
          <p:cNvSpPr/>
          <p:nvPr/>
        </p:nvSpPr>
        <p:spPr>
          <a:xfrm>
            <a:off x="4608576" y="4956048"/>
            <a:ext cx="3118104" cy="594360"/>
          </a:xfrm>
          <a:prstGeom prst="rect">
            <a:avLst/>
          </a:prstGeom>
          <a:noFill/>
          <a:ln/>
        </p:spPr>
        <p:txBody>
          <a:bodyPr wrap="square" rtlCol="0" anchor="ctr"/>
          <a:lstStyle/>
          <a:p>
            <a:pPr indent="0" marL="0">
              <a:buNone/>
            </a:pPr>
            <a:r>
              <a:rPr lang="en-US" sz="1150" dirty="0">
                <a:solidFill>
                  <a:srgbClr val="B7AECF"/>
                </a:solidFill>
                <a:latin typeface="Calibri" pitchFamily="34" charset="0"/>
                <a:ea typeface="Calibri" pitchFamily="34" charset="-122"/>
                <a:cs typeface="Calibri" pitchFamily="34" charset="-120"/>
              </a:rPr>
              <a:t>5 polished screens in a consistent glassmorphism system</a:t>
            </a:r>
            <a:endParaRPr lang="en-US" sz="1150" dirty="0"/>
          </a:p>
        </p:txBody>
      </p:sp>
      <p:sp>
        <p:nvSpPr>
          <p:cNvPr id="28" name="Shape 26"/>
          <p:cNvSpPr/>
          <p:nvPr/>
        </p:nvSpPr>
        <p:spPr>
          <a:xfrm>
            <a:off x="8156448" y="3602736"/>
            <a:ext cx="3630168" cy="2011680"/>
          </a:xfrm>
          <a:prstGeom prst="roundRect">
            <a:avLst>
              <a:gd name="adj" fmla="val 5455"/>
            </a:avLst>
          </a:prstGeom>
          <a:solidFill>
            <a:srgbClr val="18122B"/>
          </a:solidFill>
          <a:ln/>
        </p:spPr>
      </p:sp>
      <p:sp>
        <p:nvSpPr>
          <p:cNvPr id="29" name="Shape 27"/>
          <p:cNvSpPr/>
          <p:nvPr/>
        </p:nvSpPr>
        <p:spPr>
          <a:xfrm>
            <a:off x="8412480" y="3858768"/>
            <a:ext cx="457200" cy="457200"/>
          </a:xfrm>
          <a:prstGeom prst="ellipse">
            <a:avLst/>
          </a:prstGeom>
          <a:solidFill>
            <a:srgbClr val="34D399"/>
          </a:solidFill>
          <a:ln/>
        </p:spPr>
      </p:sp>
      <p:sp>
        <p:nvSpPr>
          <p:cNvPr id="30" name="Text 28"/>
          <p:cNvSpPr/>
          <p:nvPr/>
        </p:nvSpPr>
        <p:spPr>
          <a:xfrm>
            <a:off x="8412480" y="3858768"/>
            <a:ext cx="457200" cy="457200"/>
          </a:xfrm>
          <a:prstGeom prst="rect">
            <a:avLst/>
          </a:prstGeom>
          <a:noFill/>
          <a:ln/>
        </p:spPr>
        <p:txBody>
          <a:bodyPr wrap="square" lIns="0" tIns="0" rIns="0" bIns="0" rtlCol="0" anchor="ctr"/>
          <a:lstStyle/>
          <a:p>
            <a:pPr algn="ctr" indent="0" marL="0">
              <a:buNone/>
            </a:pPr>
            <a:r>
              <a:rPr lang="en-US" sz="1800" b="1" dirty="0">
                <a:solidFill>
                  <a:srgbClr val="0D0A16"/>
                </a:solidFill>
                <a:latin typeface="Calibri" pitchFamily="34" charset="0"/>
                <a:ea typeface="Calibri" pitchFamily="34" charset="-122"/>
                <a:cs typeface="Calibri" pitchFamily="34" charset="-120"/>
              </a:rPr>
              <a:t>✓</a:t>
            </a:r>
            <a:endParaRPr lang="en-US" sz="1800" dirty="0"/>
          </a:p>
        </p:txBody>
      </p:sp>
      <p:sp>
        <p:nvSpPr>
          <p:cNvPr id="31" name="Text 29"/>
          <p:cNvSpPr/>
          <p:nvPr/>
        </p:nvSpPr>
        <p:spPr>
          <a:xfrm>
            <a:off x="8412480" y="4471416"/>
            <a:ext cx="3118104" cy="5029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Admin control panel</a:t>
            </a:r>
            <a:endParaRPr lang="en-US" sz="1500" dirty="0"/>
          </a:p>
        </p:txBody>
      </p:sp>
      <p:sp>
        <p:nvSpPr>
          <p:cNvPr id="32" name="Text 30"/>
          <p:cNvSpPr/>
          <p:nvPr/>
        </p:nvSpPr>
        <p:spPr>
          <a:xfrm>
            <a:off x="8412480" y="4956048"/>
            <a:ext cx="3118104" cy="594360"/>
          </a:xfrm>
          <a:prstGeom prst="rect">
            <a:avLst/>
          </a:prstGeom>
          <a:noFill/>
          <a:ln/>
        </p:spPr>
        <p:txBody>
          <a:bodyPr wrap="square" rtlCol="0" anchor="ctr"/>
          <a:lstStyle/>
          <a:p>
            <a:pPr indent="0" marL="0">
              <a:buNone/>
            </a:pPr>
            <a:r>
              <a:rPr lang="en-US" sz="1150" dirty="0">
                <a:solidFill>
                  <a:srgbClr val="B7AECF"/>
                </a:solidFill>
                <a:latin typeface="Calibri" pitchFamily="34" charset="0"/>
                <a:ea typeface="Calibri" pitchFamily="34" charset="-122"/>
                <a:cs typeface="Calibri" pitchFamily="34" charset="-120"/>
              </a:rPr>
              <a:t>Real-time role promotion/demotion, secured by API</a:t>
            </a:r>
            <a:endParaRPr lang="en-US" sz="1150" dirty="0"/>
          </a:p>
        </p:txBody>
      </p:sp>
      <p:sp>
        <p:nvSpPr>
          <p:cNvPr id="33" name="Text 31"/>
          <p:cNvSpPr/>
          <p:nvPr/>
        </p:nvSpPr>
        <p:spPr>
          <a:xfrm>
            <a:off x="457200" y="6473952"/>
            <a:ext cx="4572000" cy="274320"/>
          </a:xfrm>
          <a:prstGeom prst="rect">
            <a:avLst/>
          </a:prstGeom>
          <a:noFill/>
          <a:ln/>
        </p:spPr>
        <p:txBody>
          <a:bodyPr wrap="square" lIns="0" tIns="0" rIns="0" bIns="0" rtlCol="0" anchor="ctr"/>
          <a:lstStyle/>
          <a:p>
            <a:pPr algn="l" indent="0" marL="0">
              <a:buNone/>
            </a:pPr>
            <a:r>
              <a:rPr lang="en-US" sz="900" dirty="0">
                <a:solidFill>
                  <a:srgbClr val="8A81A6"/>
                </a:solidFill>
                <a:latin typeface="Calibri" pitchFamily="34" charset="0"/>
                <a:ea typeface="Calibri" pitchFamily="34" charset="-122"/>
                <a:cs typeface="Calibri" pitchFamily="34" charset="-120"/>
              </a:rPr>
              <a:t>ClipMind AI  •  Milestone 1</a:t>
            </a:r>
            <a:endParaRPr lang="en-US" sz="900" dirty="0"/>
          </a:p>
        </p:txBody>
      </p:sp>
      <p:sp>
        <p:nvSpPr>
          <p:cNvPr id="34" name="Text 3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8A81A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A16"/>
        </a:solidFill>
      </p:bgPr>
    </p:bg>
    <p:spTree>
      <p:nvGrpSpPr>
        <p:cNvPr id="1" name=""/>
        <p:cNvGrpSpPr/>
        <p:nvPr/>
      </p:nvGrpSpPr>
      <p:grpSpPr>
        <a:xfrm>
          <a:off x="0" y="0"/>
          <a:ext cx="0" cy="0"/>
          <a:chOff x="0" y="0"/>
          <a:chExt cx="0" cy="0"/>
        </a:xfrm>
      </p:grpSpPr>
      <p:sp>
        <p:nvSpPr>
          <p:cNvPr id="2" name="Shape 0"/>
          <p:cNvSpPr/>
          <p:nvPr/>
        </p:nvSpPr>
        <p:spPr>
          <a:xfrm>
            <a:off x="9326880" y="4206240"/>
            <a:ext cx="4389120" cy="4389120"/>
          </a:xfrm>
          <a:prstGeom prst="ellipse">
            <a:avLst/>
          </a:prstGeom>
          <a:solidFill>
            <a:srgbClr val="D946EF">
              <a:alpha val="18000"/>
            </a:srgbClr>
          </a:solidFill>
          <a:ln/>
        </p:spPr>
      </p:sp>
      <p:sp>
        <p:nvSpPr>
          <p:cNvPr id="3" name="Text 1"/>
          <p:cNvSpPr/>
          <p:nvPr/>
        </p:nvSpPr>
        <p:spPr>
          <a:xfrm>
            <a:off x="548640" y="502920"/>
            <a:ext cx="73152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What's Next?</a:t>
            </a:r>
            <a:endParaRPr lang="en-US" sz="3000" dirty="0"/>
          </a:p>
        </p:txBody>
      </p:sp>
      <p:sp>
        <p:nvSpPr>
          <p:cNvPr id="4" name="Shape 2"/>
          <p:cNvSpPr/>
          <p:nvPr/>
        </p:nvSpPr>
        <p:spPr>
          <a:xfrm>
            <a:off x="576072" y="1170432"/>
            <a:ext cx="2834640" cy="457200"/>
          </a:xfrm>
          <a:prstGeom prst="roundRect">
            <a:avLst>
              <a:gd name="adj" fmla="val 50000"/>
            </a:avLst>
          </a:prstGeom>
          <a:solidFill>
            <a:srgbClr val="5B21B6"/>
          </a:solidFill>
          <a:ln/>
        </p:spPr>
      </p:sp>
      <p:sp>
        <p:nvSpPr>
          <p:cNvPr id="5" name="Text 3"/>
          <p:cNvSpPr/>
          <p:nvPr/>
        </p:nvSpPr>
        <p:spPr>
          <a:xfrm>
            <a:off x="576072" y="1170432"/>
            <a:ext cx="28346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MILESTONE 2  •  WEEK 3–4</a:t>
            </a:r>
            <a:endParaRPr lang="en-US" sz="1100" dirty="0"/>
          </a:p>
        </p:txBody>
      </p:sp>
      <p:sp>
        <p:nvSpPr>
          <p:cNvPr id="6" name="Shape 4"/>
          <p:cNvSpPr/>
          <p:nvPr/>
        </p:nvSpPr>
        <p:spPr>
          <a:xfrm>
            <a:off x="548640" y="1965960"/>
            <a:ext cx="438912" cy="438912"/>
          </a:xfrm>
          <a:prstGeom prst="ellipse">
            <a:avLst/>
          </a:prstGeom>
          <a:solidFill>
            <a:srgbClr val="D946EF"/>
          </a:solidFill>
          <a:ln/>
        </p:spPr>
      </p:sp>
      <p:sp>
        <p:nvSpPr>
          <p:cNvPr id="7" name="Text 5"/>
          <p:cNvSpPr/>
          <p:nvPr/>
        </p:nvSpPr>
        <p:spPr>
          <a:xfrm>
            <a:off x="548640" y="196596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170432" y="1920240"/>
            <a:ext cx="8686800" cy="320040"/>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Real speech-to-text</a:t>
            </a:r>
            <a:endParaRPr lang="en-US" sz="1550" dirty="0"/>
          </a:p>
        </p:txBody>
      </p:sp>
      <p:sp>
        <p:nvSpPr>
          <p:cNvPr id="9" name="Text 7"/>
          <p:cNvSpPr/>
          <p:nvPr/>
        </p:nvSpPr>
        <p:spPr>
          <a:xfrm>
            <a:off x="1170432" y="2258568"/>
            <a:ext cx="8961120" cy="457200"/>
          </a:xfrm>
          <a:prstGeom prst="rect">
            <a:avLst/>
          </a:prstGeom>
          <a:noFill/>
          <a:ln/>
        </p:spPr>
        <p:txBody>
          <a:bodyPr wrap="square" rtlCol="0" anchor="ctr"/>
          <a:lstStyle/>
          <a:p>
            <a:pPr indent="0" marL="0">
              <a:buNone/>
            </a:pPr>
            <a:r>
              <a:rPr lang="en-US" sz="1250" dirty="0">
                <a:solidFill>
                  <a:srgbClr val="B7AECF"/>
                </a:solidFill>
                <a:latin typeface="Calibri" pitchFamily="34" charset="0"/>
                <a:ea typeface="Calibri" pitchFamily="34" charset="-122"/>
                <a:cs typeface="Calibri" pitchFamily="34" charset="-120"/>
              </a:rPr>
              <a:t>Swap the simulated delay for OpenAI Whisper transcription</a:t>
            </a:r>
            <a:endParaRPr lang="en-US" sz="1250" dirty="0"/>
          </a:p>
        </p:txBody>
      </p:sp>
      <p:sp>
        <p:nvSpPr>
          <p:cNvPr id="10" name="Shape 8"/>
          <p:cNvSpPr/>
          <p:nvPr/>
        </p:nvSpPr>
        <p:spPr>
          <a:xfrm>
            <a:off x="548640" y="3017520"/>
            <a:ext cx="438912" cy="438912"/>
          </a:xfrm>
          <a:prstGeom prst="ellipse">
            <a:avLst/>
          </a:prstGeom>
          <a:solidFill>
            <a:srgbClr val="D946EF"/>
          </a:solidFill>
          <a:ln/>
        </p:spPr>
      </p:sp>
      <p:sp>
        <p:nvSpPr>
          <p:cNvPr id="11" name="Text 9"/>
          <p:cNvSpPr/>
          <p:nvPr/>
        </p:nvSpPr>
        <p:spPr>
          <a:xfrm>
            <a:off x="548640" y="301752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170432" y="2971800"/>
            <a:ext cx="8686800" cy="320040"/>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AI-powered summarization</a:t>
            </a:r>
            <a:endParaRPr lang="en-US" sz="1550" dirty="0"/>
          </a:p>
        </p:txBody>
      </p:sp>
      <p:sp>
        <p:nvSpPr>
          <p:cNvPr id="13" name="Text 11"/>
          <p:cNvSpPr/>
          <p:nvPr/>
        </p:nvSpPr>
        <p:spPr>
          <a:xfrm>
            <a:off x="1170432" y="3310128"/>
            <a:ext cx="8961120" cy="457200"/>
          </a:xfrm>
          <a:prstGeom prst="rect">
            <a:avLst/>
          </a:prstGeom>
          <a:noFill/>
          <a:ln/>
        </p:spPr>
        <p:txBody>
          <a:bodyPr wrap="square" rtlCol="0" anchor="ctr"/>
          <a:lstStyle/>
          <a:p>
            <a:pPr indent="0" marL="0">
              <a:buNone/>
            </a:pPr>
            <a:r>
              <a:rPr lang="en-US" sz="1250" dirty="0">
                <a:solidFill>
                  <a:srgbClr val="B7AECF"/>
                </a:solidFill>
                <a:latin typeface="Calibri" pitchFamily="34" charset="0"/>
                <a:ea typeface="Calibri" pitchFamily="34" charset="-122"/>
                <a:cs typeface="Calibri" pitchFamily="34" charset="-120"/>
              </a:rPr>
              <a:t>Short &amp; detailed summaries via BART / T5 pipelines</a:t>
            </a:r>
            <a:endParaRPr lang="en-US" sz="1250" dirty="0"/>
          </a:p>
        </p:txBody>
      </p:sp>
      <p:sp>
        <p:nvSpPr>
          <p:cNvPr id="14" name="Shape 12"/>
          <p:cNvSpPr/>
          <p:nvPr/>
        </p:nvSpPr>
        <p:spPr>
          <a:xfrm>
            <a:off x="548640" y="4069080"/>
            <a:ext cx="438912" cy="438912"/>
          </a:xfrm>
          <a:prstGeom prst="ellipse">
            <a:avLst/>
          </a:prstGeom>
          <a:solidFill>
            <a:srgbClr val="D946EF"/>
          </a:solidFill>
          <a:ln/>
        </p:spPr>
      </p:sp>
      <p:sp>
        <p:nvSpPr>
          <p:cNvPr id="15" name="Text 13"/>
          <p:cNvSpPr/>
          <p:nvPr/>
        </p:nvSpPr>
        <p:spPr>
          <a:xfrm>
            <a:off x="548640" y="406908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1170432" y="4023360"/>
            <a:ext cx="8686800" cy="320040"/>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Key moments detection</a:t>
            </a:r>
            <a:endParaRPr lang="en-US" sz="1550" dirty="0"/>
          </a:p>
        </p:txBody>
      </p:sp>
      <p:sp>
        <p:nvSpPr>
          <p:cNvPr id="17" name="Text 15"/>
          <p:cNvSpPr/>
          <p:nvPr/>
        </p:nvSpPr>
        <p:spPr>
          <a:xfrm>
            <a:off x="1170432" y="4361688"/>
            <a:ext cx="8961120" cy="457200"/>
          </a:xfrm>
          <a:prstGeom prst="rect">
            <a:avLst/>
          </a:prstGeom>
          <a:noFill/>
          <a:ln/>
        </p:spPr>
        <p:txBody>
          <a:bodyPr wrap="square" rtlCol="0" anchor="ctr"/>
          <a:lstStyle/>
          <a:p>
            <a:pPr indent="0" marL="0">
              <a:buNone/>
            </a:pPr>
            <a:r>
              <a:rPr lang="en-US" sz="1250" dirty="0">
                <a:solidFill>
                  <a:srgbClr val="B7AECF"/>
                </a:solidFill>
                <a:latin typeface="Calibri" pitchFamily="34" charset="0"/>
                <a:ea typeface="Calibri" pitchFamily="34" charset="-122"/>
                <a:cs typeface="Calibri" pitchFamily="34" charset="-120"/>
              </a:rPr>
              <a:t>Timestamp generation, topic segmentation &amp; highlight extraction</a:t>
            </a:r>
            <a:endParaRPr lang="en-US" sz="1250" dirty="0"/>
          </a:p>
        </p:txBody>
      </p:sp>
      <p:sp>
        <p:nvSpPr>
          <p:cNvPr id="18" name="Shape 16"/>
          <p:cNvSpPr/>
          <p:nvPr/>
        </p:nvSpPr>
        <p:spPr>
          <a:xfrm>
            <a:off x="548640" y="5120640"/>
            <a:ext cx="438912" cy="438912"/>
          </a:xfrm>
          <a:prstGeom prst="ellipse">
            <a:avLst/>
          </a:prstGeom>
          <a:solidFill>
            <a:srgbClr val="D946EF"/>
          </a:solidFill>
          <a:ln/>
        </p:spPr>
      </p:sp>
      <p:sp>
        <p:nvSpPr>
          <p:cNvPr id="19" name="Text 17"/>
          <p:cNvSpPr/>
          <p:nvPr/>
        </p:nvSpPr>
        <p:spPr>
          <a:xfrm>
            <a:off x="548640" y="51206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0" name="Text 18"/>
          <p:cNvSpPr/>
          <p:nvPr/>
        </p:nvSpPr>
        <p:spPr>
          <a:xfrm>
            <a:off x="1170432" y="5074920"/>
            <a:ext cx="8686800" cy="320040"/>
          </a:xfrm>
          <a:prstGeom prst="rect">
            <a:avLst/>
          </a:prstGeom>
          <a:noFill/>
          <a:ln/>
        </p:spPr>
        <p:txBody>
          <a:bodyPr wrap="square"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Summary quality evaluation</a:t>
            </a:r>
            <a:endParaRPr lang="en-US" sz="1550" dirty="0"/>
          </a:p>
        </p:txBody>
      </p:sp>
      <p:sp>
        <p:nvSpPr>
          <p:cNvPr id="21" name="Text 19"/>
          <p:cNvSpPr/>
          <p:nvPr/>
        </p:nvSpPr>
        <p:spPr>
          <a:xfrm>
            <a:off x="1170432" y="5413248"/>
            <a:ext cx="8961120" cy="457200"/>
          </a:xfrm>
          <a:prstGeom prst="rect">
            <a:avLst/>
          </a:prstGeom>
          <a:noFill/>
          <a:ln/>
        </p:spPr>
        <p:txBody>
          <a:bodyPr wrap="square" rtlCol="0" anchor="ctr"/>
          <a:lstStyle/>
          <a:p>
            <a:pPr indent="0" marL="0">
              <a:buNone/>
            </a:pPr>
            <a:r>
              <a:rPr lang="en-US" sz="1250" dirty="0">
                <a:solidFill>
                  <a:srgbClr val="B7AECF"/>
                </a:solidFill>
                <a:latin typeface="Calibri" pitchFamily="34" charset="0"/>
                <a:ea typeface="Calibri" pitchFamily="34" charset="-122"/>
                <a:cs typeface="Calibri" pitchFamily="34" charset="-120"/>
              </a:rPr>
              <a:t>Benchmark transcript accuracy and summary relevance</a:t>
            </a:r>
            <a:endParaRPr lang="en-US" sz="1250" dirty="0"/>
          </a:p>
        </p:txBody>
      </p:sp>
      <p:sp>
        <p:nvSpPr>
          <p:cNvPr id="22" name="Text 20"/>
          <p:cNvSpPr/>
          <p:nvPr/>
        </p:nvSpPr>
        <p:spPr>
          <a:xfrm>
            <a:off x="548640" y="6172200"/>
            <a:ext cx="5486400" cy="457200"/>
          </a:xfrm>
          <a:prstGeom prst="rect">
            <a:avLst/>
          </a:prstGeom>
          <a:noFill/>
          <a:ln/>
        </p:spPr>
        <p:txBody>
          <a:bodyPr wrap="square" rtlCol="0" anchor="ctr"/>
          <a:lstStyle/>
          <a:p>
            <a:pPr indent="0" marL="0">
              <a:buNone/>
            </a:pPr>
            <a:r>
              <a:rPr lang="en-US" sz="1600" b="1" dirty="0">
                <a:solidFill>
                  <a:srgbClr val="F0ABFC"/>
                </a:solidFill>
                <a:latin typeface="Cambria" pitchFamily="34" charset="0"/>
                <a:ea typeface="Cambria" pitchFamily="34" charset="-122"/>
                <a:cs typeface="Cambria" pitchFamily="34" charset="-120"/>
              </a:rPr>
              <a:t>Thank you</a:t>
            </a:r>
            <a:endParaRPr lang="en-US" sz="1600" dirty="0"/>
          </a:p>
        </p:txBody>
      </p:sp>
      <p:sp>
        <p:nvSpPr>
          <p:cNvPr id="23" name="Text 21"/>
          <p:cNvSpPr/>
          <p:nvPr/>
        </p:nvSpPr>
        <p:spPr>
          <a:xfrm>
            <a:off x="457200" y="6473952"/>
            <a:ext cx="4572000" cy="274320"/>
          </a:xfrm>
          <a:prstGeom prst="rect">
            <a:avLst/>
          </a:prstGeom>
          <a:noFill/>
          <a:ln/>
        </p:spPr>
        <p:txBody>
          <a:bodyPr wrap="square" lIns="0" tIns="0" rIns="0" bIns="0" rtlCol="0" anchor="ctr"/>
          <a:lstStyle/>
          <a:p>
            <a:pPr algn="l" indent="0" marL="0">
              <a:buNone/>
            </a:pPr>
            <a:r>
              <a:rPr lang="en-US" sz="900" dirty="0">
                <a:solidFill>
                  <a:srgbClr val="8A81A6"/>
                </a:solidFill>
                <a:latin typeface="Calibri" pitchFamily="34" charset="0"/>
                <a:ea typeface="Calibri" pitchFamily="34" charset="-122"/>
                <a:cs typeface="Calibri" pitchFamily="34" charset="-120"/>
              </a:rPr>
              <a:t>ClipMind AI  •  Milestone 1</a:t>
            </a:r>
            <a:endParaRPr lang="en-US" sz="900" dirty="0"/>
          </a:p>
        </p:txBody>
      </p:sp>
      <p:sp>
        <p:nvSpPr>
          <p:cNvPr id="24" name="Text 22"/>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900" dirty="0">
                <a:solidFill>
                  <a:srgbClr val="8A81A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2026-07-10T14:49:22Z</dcterms:created>
  <dcterms:modified xsi:type="dcterms:W3CDTF">2026-07-10T14:49:22Z</dcterms:modified>
</cp:coreProperties>
</file>