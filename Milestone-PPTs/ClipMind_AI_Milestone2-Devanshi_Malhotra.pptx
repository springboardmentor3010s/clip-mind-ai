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54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7843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Milestone 2 presentation of ClipMind AI. Building upon our robust foundation from Milestone 1, this phase focuses on the core intelligence of the platform: AI-powered Transcript Generation and Summarization. Today, I'll walk you through how we've integrated advanced NLP models to turn raw video into actionable 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Milestone 2, our primary goals were to replace the mock delays from M1 with actual AI processing. This meant integrating Whisper for transcription and powerful LLMs for summarization. The expected outcome is a fully functioning pipeline where a user can upload a video and receive a real, highly accurate transcript and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achieve our goals, we expanded the architecture to include external AI APIs and a NoSQL database. Since processing video is computationally heavy, we utilized FastAPI's BackgroundTasks to decouple the AI pipeline from the user's upload request. We chose Groq's API to run Whisper and Llama-3 at blazing fast speeds.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AI integration is Whisper. First, FFmpeg efficiently strips the audio from the uploaded video. Then, we send this audio to the Whisper model via Groq. We request 'verbose JSON' so we receive exact start and end timestamps for every spoken sentence. This allows us to build the clickable transcript UI you see on the right.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the transcript, we pass it to Llama-3. We heavily refined the prompt to ensure the AI outputs a comprehensive, multi-paragraph summary rather than a generic 1-liner. We enforce strict JSON formatting so our backend can parse the summary and the extracted key moments programmatically without errors.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store this data, we introduced MongoDB. While Postgres is perfect for user accounts and roles, transcripts are highly nested documents that vary wildly in size. By using MongoDB for the transcripts and summaries, we maintain a clean separation of concerns and ensure high performance for read/write operations on heavy text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vastly improved the user experience. Instead of auto-processing on upload and locking up the UI, uploads are now instantaneous. Users trigger the AI manually, and are greeted with a beautiful 'Chain of Thought' progress indicator that tells them exactly what the AI is doing—extracting audio, transcribing, and summarizing.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production-ready quality, we built an evaluation pipeline. We integrated HuggingFace for baseline models, and measured the blazing fast performance of Groq. As seen in the results, Llama-3 completes the summarization in roughly 1 second while maintaining perfect contextual accuracy.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Milestone 2: We've successfully integrated Whisper for STT and Llama-3 for summarization. We've added MongoDB to handle the unstructured data, implemented real video playback capabilities, and overhauled the UI to provide a decoupled, user-friendly AI triggering experience.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Milestone 3, weeks 5 and 6 of the roadmap: we will double down on Key Moments Detection to create dynamic highlight reports and keyword extraction. Finally, we'll build out the analytics dashboard to give users deep insights into their content and usage. Thank you,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A16"/>
        </a:solidFill>
        <a:effectLst/>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7C3AED">
              <a:alpha val="22000"/>
            </a:srgbClr>
          </a:solidFill>
          <a:ln/>
        </p:spPr>
      </p:sp>
      <p:sp>
        <p:nvSpPr>
          <p:cNvPr id="3" name="Shape 1"/>
          <p:cNvSpPr/>
          <p:nvPr/>
        </p:nvSpPr>
        <p:spPr>
          <a:xfrm>
            <a:off x="-1645920" y="4206240"/>
            <a:ext cx="4206240" cy="4206240"/>
          </a:xfrm>
          <a:prstGeom prst="ellipse">
            <a:avLst/>
          </a:prstGeom>
          <a:solidFill>
            <a:srgbClr val="D946EF">
              <a:alpha val="16000"/>
            </a:srgbClr>
          </a:solidFill>
          <a:ln/>
        </p:spPr>
      </p:sp>
      <p:sp>
        <p:nvSpPr>
          <p:cNvPr id="4" name="Shape 2"/>
          <p:cNvSpPr/>
          <p:nvPr/>
        </p:nvSpPr>
        <p:spPr>
          <a:xfrm>
            <a:off x="5230368" y="1051560"/>
            <a:ext cx="822960" cy="822960"/>
          </a:xfrm>
          <a:prstGeom prst="ellipse">
            <a:avLst/>
          </a:prstGeom>
          <a:solidFill>
            <a:srgbClr val="7C3AED"/>
          </a:solidFill>
          <a:ln/>
        </p:spPr>
      </p:sp>
      <p:sp>
        <p:nvSpPr>
          <p:cNvPr id="5" name="Text 3"/>
          <p:cNvSpPr/>
          <p:nvPr/>
        </p:nvSpPr>
        <p:spPr>
          <a:xfrm>
            <a:off x="5230368" y="105156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6" name="Text 4"/>
          <p:cNvSpPr/>
          <p:nvPr/>
        </p:nvSpPr>
        <p:spPr>
          <a:xfrm>
            <a:off x="0" y="2057400"/>
            <a:ext cx="12191695" cy="100584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ClipMind AI</a:t>
            </a:r>
            <a:endParaRPr lang="en-US" sz="5400" dirty="0"/>
          </a:p>
        </p:txBody>
      </p:sp>
      <p:sp>
        <p:nvSpPr>
          <p:cNvPr id="7" name="Text 5"/>
          <p:cNvSpPr/>
          <p:nvPr/>
        </p:nvSpPr>
        <p:spPr>
          <a:xfrm>
            <a:off x="914400" y="3063240"/>
            <a:ext cx="10362895" cy="502920"/>
          </a:xfrm>
          <a:prstGeom prst="rect">
            <a:avLst/>
          </a:prstGeom>
          <a:noFill/>
          <a:ln/>
        </p:spPr>
        <p:txBody>
          <a:bodyPr wrap="square" rtlCol="0" anchor="ctr"/>
          <a:lstStyle/>
          <a:p>
            <a:pPr marL="0" indent="0" algn="ctr">
              <a:buNone/>
            </a:pPr>
            <a:r>
              <a:rPr lang="en-US" sz="1800" dirty="0">
                <a:solidFill>
                  <a:srgbClr val="F0ABFC"/>
                </a:solidFill>
                <a:latin typeface="Calibri" pitchFamily="34" charset="0"/>
                <a:ea typeface="Calibri" pitchFamily="34" charset="-122"/>
                <a:cs typeface="Calibri" pitchFamily="34" charset="-120"/>
              </a:rPr>
              <a:t>Video Summarization &amp; Key Moments Detection Platform</a:t>
            </a:r>
            <a:endParaRPr lang="en-US" sz="1800" dirty="0"/>
          </a:p>
        </p:txBody>
      </p:sp>
      <p:sp>
        <p:nvSpPr>
          <p:cNvPr id="8" name="Text 6"/>
          <p:cNvSpPr/>
          <p:nvPr/>
        </p:nvSpPr>
        <p:spPr>
          <a:xfrm>
            <a:off x="914400" y="3611880"/>
            <a:ext cx="10362895" cy="3200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Presented by Devanshi Malhotra</a:t>
            </a:r>
            <a:endParaRPr lang="en-US" sz="1600" dirty="0"/>
          </a:p>
        </p:txBody>
      </p:sp>
      <p:sp>
        <p:nvSpPr>
          <p:cNvPr id="9" name="Shape 7"/>
          <p:cNvSpPr/>
          <p:nvPr/>
        </p:nvSpPr>
        <p:spPr>
          <a:xfrm>
            <a:off x="4041648" y="4114800"/>
            <a:ext cx="4114800" cy="502920"/>
          </a:xfrm>
          <a:prstGeom prst="roundRect">
            <a:avLst>
              <a:gd name="adj" fmla="val 50000"/>
            </a:avLst>
          </a:prstGeom>
          <a:solidFill>
            <a:srgbClr val="D946EF"/>
          </a:solidFill>
          <a:ln/>
        </p:spPr>
      </p:sp>
      <p:sp>
        <p:nvSpPr>
          <p:cNvPr id="10" name="Text 8"/>
          <p:cNvSpPr/>
          <p:nvPr/>
        </p:nvSpPr>
        <p:spPr>
          <a:xfrm>
            <a:off x="4041648" y="4114800"/>
            <a:ext cx="411480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MILESTONE 2  •  WEEK 3–4</a:t>
            </a:r>
            <a:endParaRPr lang="en-US" sz="1100" dirty="0"/>
          </a:p>
        </p:txBody>
      </p:sp>
      <p:sp>
        <p:nvSpPr>
          <p:cNvPr id="11" name="Text 9"/>
          <p:cNvSpPr/>
          <p:nvPr/>
        </p:nvSpPr>
        <p:spPr>
          <a:xfrm>
            <a:off x="0" y="4800600"/>
            <a:ext cx="12191695" cy="457200"/>
          </a:xfrm>
          <a:prstGeom prst="rect">
            <a:avLst/>
          </a:prstGeom>
          <a:noFill/>
          <a:ln/>
        </p:spPr>
        <p:txBody>
          <a:bodyPr wrap="square" rtlCol="0" anchor="ctr"/>
          <a:lstStyle/>
          <a:p>
            <a:pPr marL="0" indent="0" algn="ctr">
              <a:buNone/>
            </a:pPr>
            <a:r>
              <a:rPr lang="en-US" sz="1600" b="1" dirty="0">
                <a:solidFill>
                  <a:srgbClr val="B7AECF"/>
                </a:solidFill>
                <a:latin typeface="Calibri" pitchFamily="34" charset="0"/>
                <a:ea typeface="Calibri" pitchFamily="34" charset="-122"/>
                <a:cs typeface="Calibri" pitchFamily="34" charset="-120"/>
              </a:rPr>
              <a:t>Transcript Generation &amp; AI Summarization</a:t>
            </a:r>
            <a:endParaRPr lang="en-US" sz="1600" dirty="0"/>
          </a:p>
        </p:txBody>
      </p:sp>
      <p:sp>
        <p:nvSpPr>
          <p:cNvPr id="12" name="Text 10"/>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13"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Milestone 2 Objectives</a:t>
            </a:r>
            <a:endParaRPr lang="en-US" sz="3000" dirty="0"/>
          </a:p>
        </p:txBody>
      </p:sp>
      <p:sp>
        <p:nvSpPr>
          <p:cNvPr id="3" name="Shape 1"/>
          <p:cNvSpPr/>
          <p:nvPr/>
        </p:nvSpPr>
        <p:spPr>
          <a:xfrm>
            <a:off x="548640" y="1417320"/>
            <a:ext cx="5349240" cy="4709160"/>
          </a:xfrm>
          <a:prstGeom prst="roundRect">
            <a:avLst>
              <a:gd name="adj" fmla="val 2330"/>
            </a:avLst>
          </a:prstGeom>
          <a:solidFill>
            <a:srgbClr val="18122B"/>
          </a:solidFill>
          <a:ln/>
        </p:spPr>
      </p:sp>
      <p:sp>
        <p:nvSpPr>
          <p:cNvPr id="4" name="Shape 2"/>
          <p:cNvSpPr/>
          <p:nvPr/>
        </p:nvSpPr>
        <p:spPr>
          <a:xfrm>
            <a:off x="868680" y="1737360"/>
            <a:ext cx="502920" cy="502920"/>
          </a:xfrm>
          <a:prstGeom prst="ellipse">
            <a:avLst/>
          </a:prstGeom>
          <a:solidFill>
            <a:srgbClr val="7C3AED"/>
          </a:solidFill>
          <a:ln/>
        </p:spPr>
      </p:sp>
      <p:sp>
        <p:nvSpPr>
          <p:cNvPr id="5" name="Text 3"/>
          <p:cNvSpPr/>
          <p:nvPr/>
        </p:nvSpPr>
        <p:spPr>
          <a:xfrm>
            <a:off x="868680" y="1737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508760" y="1737360"/>
            <a:ext cx="384048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Goals</a:t>
            </a:r>
            <a:endParaRPr lang="en-US" sz="2000" dirty="0"/>
          </a:p>
        </p:txBody>
      </p:sp>
      <p:sp>
        <p:nvSpPr>
          <p:cNvPr id="7" name="Text 5"/>
          <p:cNvSpPr/>
          <p:nvPr/>
        </p:nvSpPr>
        <p:spPr>
          <a:xfrm>
            <a:off x="914400" y="2468880"/>
            <a:ext cx="4617720" cy="3337560"/>
          </a:xfrm>
          <a:prstGeom prst="rect">
            <a:avLst/>
          </a:prstGeom>
          <a:noFill/>
          <a:ln/>
        </p:spPr>
        <p:txBody>
          <a:bodyPr wrap="square" rtlCol="0" anchor="t"/>
          <a:lstStyle/>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Integrate OpenAI Whisper for high-accuracy speech-to-text conversion.</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Implement NLP summarization pipelines (via Groq/Llama-3) to generate real-time video summaries.</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Store and manage transcripts effectively using a NoSQL database (MongoDB).</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Evaluate summary quality and performance of the AI models.</a:t>
            </a:r>
            <a:endParaRPr lang="en-US" sz="1450" dirty="0"/>
          </a:p>
        </p:txBody>
      </p:sp>
      <p:sp>
        <p:nvSpPr>
          <p:cNvPr id="8" name="Shape 6"/>
          <p:cNvSpPr/>
          <p:nvPr/>
        </p:nvSpPr>
        <p:spPr>
          <a:xfrm>
            <a:off x="6263640" y="1417320"/>
            <a:ext cx="5349240" cy="4709160"/>
          </a:xfrm>
          <a:prstGeom prst="roundRect">
            <a:avLst>
              <a:gd name="adj" fmla="val 2330"/>
            </a:avLst>
          </a:prstGeom>
          <a:solidFill>
            <a:srgbClr val="18122B"/>
          </a:solidFill>
          <a:ln/>
        </p:spPr>
      </p:sp>
      <p:sp>
        <p:nvSpPr>
          <p:cNvPr id="9" name="Shape 7"/>
          <p:cNvSpPr/>
          <p:nvPr/>
        </p:nvSpPr>
        <p:spPr>
          <a:xfrm>
            <a:off x="6583680" y="1737360"/>
            <a:ext cx="502920" cy="502920"/>
          </a:xfrm>
          <a:prstGeom prst="ellipse">
            <a:avLst/>
          </a:prstGeom>
          <a:solidFill>
            <a:srgbClr val="34D399"/>
          </a:solidFill>
          <a:ln/>
        </p:spPr>
      </p:sp>
      <p:sp>
        <p:nvSpPr>
          <p:cNvPr id="10" name="Text 8"/>
          <p:cNvSpPr/>
          <p:nvPr/>
        </p:nvSpPr>
        <p:spPr>
          <a:xfrm>
            <a:off x="6583680" y="1737360"/>
            <a:ext cx="502920" cy="50292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223760" y="1737360"/>
            <a:ext cx="384048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Expected Outcomes</a:t>
            </a:r>
            <a:endParaRPr lang="en-US" sz="2000" dirty="0"/>
          </a:p>
        </p:txBody>
      </p:sp>
      <p:sp>
        <p:nvSpPr>
          <p:cNvPr id="12" name="Text 10"/>
          <p:cNvSpPr/>
          <p:nvPr/>
        </p:nvSpPr>
        <p:spPr>
          <a:xfrm>
            <a:off x="6629400" y="2468880"/>
            <a:ext cx="4617720" cy="2286000"/>
          </a:xfrm>
          <a:prstGeom prst="rect">
            <a:avLst/>
          </a:prstGeom>
          <a:noFill/>
          <a:ln/>
        </p:spPr>
        <p:txBody>
          <a:bodyPr wrap="square" rtlCol="0" anchor="t"/>
          <a:lstStyle/>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Working transcript generation and summarization systems.</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Live AI-powered speech recognition workflows replacing the simulated delay.</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Deep understanding of NLP and content summarization concepts.</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Real-time video summaries and transcripts visible on the user dashboard.</a:t>
            </a:r>
            <a:endParaRPr lang="en-US" sz="1450" dirty="0"/>
          </a:p>
        </p:txBody>
      </p:sp>
      <p:sp>
        <p:nvSpPr>
          <p:cNvPr id="13" name="Text 11"/>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14"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AI Processing Architecture</a:t>
            </a:r>
            <a:endParaRPr lang="en-US" sz="30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300" i="1" dirty="0">
                <a:solidFill>
                  <a:srgbClr val="8A81A6"/>
                </a:solidFill>
                <a:latin typeface="Calibri" pitchFamily="34" charset="0"/>
                <a:ea typeface="Calibri" pitchFamily="34" charset="-122"/>
                <a:cs typeface="Calibri" pitchFamily="34" charset="-120"/>
              </a:rPr>
              <a:t>Decoupled background tasks for heavy AI workloads</a:t>
            </a:r>
            <a:endParaRPr lang="en-US" sz="1300" dirty="0"/>
          </a:p>
        </p:txBody>
      </p:sp>
      <p:sp>
        <p:nvSpPr>
          <p:cNvPr id="4" name="Shape 2"/>
          <p:cNvSpPr/>
          <p:nvPr/>
        </p:nvSpPr>
        <p:spPr>
          <a:xfrm>
            <a:off x="548640" y="1417320"/>
            <a:ext cx="6858000" cy="4709160"/>
          </a:xfrm>
          <a:prstGeom prst="roundRect">
            <a:avLst>
              <a:gd name="adj" fmla="val 2718"/>
            </a:avLst>
          </a:prstGeom>
          <a:solidFill>
            <a:srgbClr val="110D1D"/>
          </a:solidFill>
          <a:ln w="12700">
            <a:solidFill>
              <a:srgbClr val="2E2650"/>
            </a:solidFill>
            <a:prstDash val="solid"/>
          </a:ln>
        </p:spPr>
      </p:sp>
      <p:sp>
        <p:nvSpPr>
          <p:cNvPr id="5" name="Shape 3"/>
          <p:cNvSpPr/>
          <p:nvPr/>
        </p:nvSpPr>
        <p:spPr>
          <a:xfrm>
            <a:off x="1005840" y="2148840"/>
            <a:ext cx="1828800" cy="914400"/>
          </a:xfrm>
          <a:prstGeom prst="roundRect">
            <a:avLst>
              <a:gd name="adj" fmla="val 10000"/>
            </a:avLst>
          </a:prstGeom>
          <a:solidFill>
            <a:srgbClr val="7C3AED"/>
          </a:solidFill>
          <a:ln/>
        </p:spPr>
      </p:sp>
      <p:sp>
        <p:nvSpPr>
          <p:cNvPr id="6" name="Text 4"/>
          <p:cNvSpPr/>
          <p:nvPr/>
        </p:nvSpPr>
        <p:spPr>
          <a:xfrm>
            <a:off x="1005840" y="2148840"/>
            <a:ext cx="18288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Next.js Frontend</a:t>
            </a:r>
            <a:endParaRPr lang="en-US" sz="1400" dirty="0"/>
          </a:p>
        </p:txBody>
      </p:sp>
      <p:sp>
        <p:nvSpPr>
          <p:cNvPr id="7" name="Shape 5"/>
          <p:cNvSpPr/>
          <p:nvPr/>
        </p:nvSpPr>
        <p:spPr>
          <a:xfrm>
            <a:off x="3474720" y="2148840"/>
            <a:ext cx="2011680" cy="1645920"/>
          </a:xfrm>
          <a:prstGeom prst="roundRect">
            <a:avLst>
              <a:gd name="adj" fmla="val 5556"/>
            </a:avLst>
          </a:prstGeom>
          <a:solidFill>
            <a:srgbClr val="1F1836"/>
          </a:solidFill>
          <a:ln w="25400">
            <a:solidFill>
              <a:srgbClr val="7C3AED"/>
            </a:solidFill>
            <a:prstDash val="solid"/>
          </a:ln>
        </p:spPr>
      </p:sp>
      <p:sp>
        <p:nvSpPr>
          <p:cNvPr id="8" name="Text 6"/>
          <p:cNvSpPr/>
          <p:nvPr/>
        </p:nvSpPr>
        <p:spPr>
          <a:xfrm>
            <a:off x="3474720" y="2240280"/>
            <a:ext cx="201168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Backend</a:t>
            </a:r>
            <a:endParaRPr lang="en-US" sz="1400" dirty="0"/>
          </a:p>
        </p:txBody>
      </p:sp>
      <p:sp>
        <p:nvSpPr>
          <p:cNvPr id="9" name="Shape 7"/>
          <p:cNvSpPr/>
          <p:nvPr/>
        </p:nvSpPr>
        <p:spPr>
          <a:xfrm>
            <a:off x="3657600" y="2697480"/>
            <a:ext cx="1645920" cy="457200"/>
          </a:xfrm>
          <a:prstGeom prst="roundRect">
            <a:avLst>
              <a:gd name="adj" fmla="val 20000"/>
            </a:avLst>
          </a:prstGeom>
          <a:solidFill>
            <a:srgbClr val="5B21B6"/>
          </a:solidFill>
          <a:ln/>
        </p:spPr>
      </p:sp>
      <p:sp>
        <p:nvSpPr>
          <p:cNvPr id="10" name="Text 8"/>
          <p:cNvSpPr/>
          <p:nvPr/>
        </p:nvSpPr>
        <p:spPr>
          <a:xfrm>
            <a:off x="3657600" y="2697480"/>
            <a:ext cx="16459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BackgroundTasks</a:t>
            </a:r>
            <a:endParaRPr lang="en-US" sz="1100" dirty="0"/>
          </a:p>
        </p:txBody>
      </p:sp>
      <p:sp>
        <p:nvSpPr>
          <p:cNvPr id="11" name="Shape 9"/>
          <p:cNvSpPr/>
          <p:nvPr/>
        </p:nvSpPr>
        <p:spPr>
          <a:xfrm>
            <a:off x="3566160" y="4617720"/>
            <a:ext cx="1828800" cy="914400"/>
          </a:xfrm>
          <a:prstGeom prst="roundRect">
            <a:avLst>
              <a:gd name="adj" fmla="val 10000"/>
            </a:avLst>
          </a:prstGeom>
          <a:solidFill>
            <a:srgbClr val="34D399"/>
          </a:solidFill>
          <a:ln/>
        </p:spPr>
      </p:sp>
      <p:sp>
        <p:nvSpPr>
          <p:cNvPr id="12" name="Text 10"/>
          <p:cNvSpPr/>
          <p:nvPr/>
        </p:nvSpPr>
        <p:spPr>
          <a:xfrm>
            <a:off x="3566160" y="4617720"/>
            <a:ext cx="1828800" cy="914400"/>
          </a:xfrm>
          <a:prstGeom prst="rect">
            <a:avLst/>
          </a:prstGeom>
          <a:noFill/>
          <a:ln/>
        </p:spPr>
        <p:txBody>
          <a:bodyPr wrap="square" rtlCol="0" anchor="ctr"/>
          <a:lstStyle/>
          <a:p>
            <a:pPr marL="0" indent="0" algn="ctr">
              <a:buNone/>
            </a:pPr>
            <a:r>
              <a:rPr lang="en-US" sz="1400" b="1" dirty="0">
                <a:solidFill>
                  <a:srgbClr val="0D0A16"/>
                </a:solidFill>
                <a:latin typeface="Calibri" pitchFamily="34" charset="0"/>
                <a:ea typeface="Calibri" pitchFamily="34" charset="-122"/>
                <a:cs typeface="Calibri" pitchFamily="34" charset="-120"/>
              </a:rPr>
              <a:t>MongoDB</a:t>
            </a:r>
            <a:endParaRPr lang="en-US" sz="1400" dirty="0"/>
          </a:p>
        </p:txBody>
      </p:sp>
      <p:sp>
        <p:nvSpPr>
          <p:cNvPr id="13" name="Shape 11"/>
          <p:cNvSpPr/>
          <p:nvPr/>
        </p:nvSpPr>
        <p:spPr>
          <a:xfrm>
            <a:off x="6035040" y="2148840"/>
            <a:ext cx="1097280" cy="2286000"/>
          </a:xfrm>
          <a:prstGeom prst="roundRect">
            <a:avLst>
              <a:gd name="adj" fmla="val 8333"/>
            </a:avLst>
          </a:prstGeom>
          <a:solidFill>
            <a:srgbClr val="D946EF"/>
          </a:solidFill>
          <a:ln/>
        </p:spPr>
      </p:sp>
      <p:sp>
        <p:nvSpPr>
          <p:cNvPr id="14" name="Text 12"/>
          <p:cNvSpPr/>
          <p:nvPr/>
        </p:nvSpPr>
        <p:spPr>
          <a:xfrm>
            <a:off x="6035040" y="2148840"/>
            <a:ext cx="1097280" cy="22860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Groq API</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Whisper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Llama-3</a:t>
            </a:r>
            <a:endParaRPr lang="en-US" sz="1200" dirty="0"/>
          </a:p>
        </p:txBody>
      </p:sp>
      <p:sp>
        <p:nvSpPr>
          <p:cNvPr id="15" name="Shape 13"/>
          <p:cNvSpPr/>
          <p:nvPr/>
        </p:nvSpPr>
        <p:spPr>
          <a:xfrm>
            <a:off x="2834640" y="2514600"/>
            <a:ext cx="640080" cy="182880"/>
          </a:xfrm>
          <a:prstGeom prst="rightArrow">
            <a:avLst/>
          </a:prstGeom>
          <a:solidFill>
            <a:srgbClr val="B7AECF"/>
          </a:solidFill>
          <a:ln/>
        </p:spPr>
      </p:sp>
      <p:sp>
        <p:nvSpPr>
          <p:cNvPr id="16" name="Shape 14"/>
          <p:cNvSpPr/>
          <p:nvPr/>
        </p:nvSpPr>
        <p:spPr>
          <a:xfrm>
            <a:off x="5486400" y="2788920"/>
            <a:ext cx="548640" cy="182880"/>
          </a:xfrm>
          <a:prstGeom prst="rightArrow">
            <a:avLst/>
          </a:prstGeom>
          <a:solidFill>
            <a:srgbClr val="B7AECF"/>
          </a:solidFill>
          <a:ln/>
        </p:spPr>
      </p:sp>
      <p:sp>
        <p:nvSpPr>
          <p:cNvPr id="17" name="Shape 15"/>
          <p:cNvSpPr/>
          <p:nvPr/>
        </p:nvSpPr>
        <p:spPr>
          <a:xfrm>
            <a:off x="4389120" y="3794760"/>
            <a:ext cx="182880" cy="822960"/>
          </a:xfrm>
          <a:prstGeom prst="downArrow">
            <a:avLst/>
          </a:prstGeom>
          <a:solidFill>
            <a:srgbClr val="B7AECF"/>
          </a:solidFill>
          <a:ln/>
        </p:spPr>
      </p:sp>
      <p:sp>
        <p:nvSpPr>
          <p:cNvPr id="18" name="Text 16"/>
          <p:cNvSpPr/>
          <p:nvPr/>
        </p:nvSpPr>
        <p:spPr>
          <a:xfrm>
            <a:off x="7726680" y="1417320"/>
            <a:ext cx="393192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Milestone 2 — AI Stack</a:t>
            </a:r>
            <a:endParaRPr lang="en-US" sz="1600" dirty="0"/>
          </a:p>
        </p:txBody>
      </p:sp>
      <p:sp>
        <p:nvSpPr>
          <p:cNvPr id="19" name="Shape 17"/>
          <p:cNvSpPr/>
          <p:nvPr/>
        </p:nvSpPr>
        <p:spPr>
          <a:xfrm>
            <a:off x="7726680" y="1920240"/>
            <a:ext cx="3931920" cy="658368"/>
          </a:xfrm>
          <a:prstGeom prst="roundRect">
            <a:avLst>
              <a:gd name="adj" fmla="val 12500"/>
            </a:avLst>
          </a:prstGeom>
          <a:solidFill>
            <a:srgbClr val="18122B"/>
          </a:solidFill>
          <a:ln/>
        </p:spPr>
        <p:txBody>
          <a:bodyPr/>
          <a:lstStyle/>
          <a:p>
            <a:endParaRPr lang="en-IN" dirty="0"/>
          </a:p>
        </p:txBody>
      </p:sp>
      <p:sp>
        <p:nvSpPr>
          <p:cNvPr id="20" name="Shape 18"/>
          <p:cNvSpPr/>
          <p:nvPr/>
        </p:nvSpPr>
        <p:spPr>
          <a:xfrm>
            <a:off x="7863840" y="2057400"/>
            <a:ext cx="73152" cy="384048"/>
          </a:xfrm>
          <a:prstGeom prst="roundRect">
            <a:avLst/>
          </a:prstGeom>
          <a:solidFill>
            <a:srgbClr val="D946EF"/>
          </a:solidFill>
          <a:ln/>
        </p:spPr>
      </p:sp>
      <p:sp>
        <p:nvSpPr>
          <p:cNvPr id="21" name="Text 19"/>
          <p:cNvSpPr/>
          <p:nvPr/>
        </p:nvSpPr>
        <p:spPr>
          <a:xfrm>
            <a:off x="8046720" y="1975104"/>
            <a:ext cx="3474720" cy="274320"/>
          </a:xfrm>
          <a:prstGeom prst="rect">
            <a:avLst/>
          </a:prstGeom>
          <a:noFill/>
          <a:ln/>
        </p:spPr>
        <p:txBody>
          <a:bodyPr wrap="square" rtlCol="0" anchor="ctr"/>
          <a:lstStyle/>
          <a:p>
            <a:pPr marL="0" indent="0">
              <a:buNone/>
            </a:pPr>
            <a:r>
              <a:rPr lang="en-US" sz="1100" b="1" dirty="0">
                <a:solidFill>
                  <a:srgbClr val="8A81A6"/>
                </a:solidFill>
                <a:latin typeface="Calibri" pitchFamily="34" charset="0"/>
                <a:ea typeface="Calibri" pitchFamily="34" charset="-122"/>
                <a:cs typeface="Calibri" pitchFamily="34" charset="-120"/>
              </a:rPr>
              <a:t>Transcription</a:t>
            </a:r>
            <a:endParaRPr lang="en-US" sz="1100" dirty="0"/>
          </a:p>
        </p:txBody>
      </p:sp>
      <p:sp>
        <p:nvSpPr>
          <p:cNvPr id="22" name="Text 20"/>
          <p:cNvSpPr/>
          <p:nvPr/>
        </p:nvSpPr>
        <p:spPr>
          <a:xfrm>
            <a:off x="8046720" y="2212848"/>
            <a:ext cx="3474720" cy="31089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Whisper Large-v3 (via Groq API)</a:t>
            </a:r>
            <a:endParaRPr lang="en-US" sz="1300" dirty="0"/>
          </a:p>
        </p:txBody>
      </p:sp>
      <p:sp>
        <p:nvSpPr>
          <p:cNvPr id="23" name="Shape 21"/>
          <p:cNvSpPr/>
          <p:nvPr/>
        </p:nvSpPr>
        <p:spPr>
          <a:xfrm>
            <a:off x="7726680" y="2697480"/>
            <a:ext cx="3931920" cy="658368"/>
          </a:xfrm>
          <a:prstGeom prst="roundRect">
            <a:avLst>
              <a:gd name="adj" fmla="val 12500"/>
            </a:avLst>
          </a:prstGeom>
          <a:solidFill>
            <a:srgbClr val="18122B"/>
          </a:solidFill>
          <a:ln/>
        </p:spPr>
      </p:sp>
      <p:sp>
        <p:nvSpPr>
          <p:cNvPr id="24" name="Shape 22"/>
          <p:cNvSpPr/>
          <p:nvPr/>
        </p:nvSpPr>
        <p:spPr>
          <a:xfrm>
            <a:off x="7863840" y="2834640"/>
            <a:ext cx="73152" cy="384048"/>
          </a:xfrm>
          <a:prstGeom prst="roundRect">
            <a:avLst/>
          </a:prstGeom>
          <a:solidFill>
            <a:srgbClr val="D946EF"/>
          </a:solidFill>
          <a:ln/>
        </p:spPr>
      </p:sp>
      <p:sp>
        <p:nvSpPr>
          <p:cNvPr id="25" name="Text 23"/>
          <p:cNvSpPr/>
          <p:nvPr/>
        </p:nvSpPr>
        <p:spPr>
          <a:xfrm>
            <a:off x="8046720" y="2752344"/>
            <a:ext cx="3474720" cy="274320"/>
          </a:xfrm>
          <a:prstGeom prst="rect">
            <a:avLst/>
          </a:prstGeom>
          <a:noFill/>
          <a:ln/>
        </p:spPr>
        <p:txBody>
          <a:bodyPr wrap="square" rtlCol="0" anchor="ctr"/>
          <a:lstStyle/>
          <a:p>
            <a:pPr marL="0" indent="0">
              <a:buNone/>
            </a:pPr>
            <a:r>
              <a:rPr lang="en-US" sz="1100" b="1" dirty="0">
                <a:solidFill>
                  <a:srgbClr val="8A81A6"/>
                </a:solidFill>
                <a:latin typeface="Calibri" pitchFamily="34" charset="0"/>
                <a:ea typeface="Calibri" pitchFamily="34" charset="-122"/>
                <a:cs typeface="Calibri" pitchFamily="34" charset="-120"/>
              </a:rPr>
              <a:t>Summarization</a:t>
            </a:r>
            <a:endParaRPr lang="en-US" sz="1100" dirty="0"/>
          </a:p>
        </p:txBody>
      </p:sp>
      <p:sp>
        <p:nvSpPr>
          <p:cNvPr id="26" name="Text 24"/>
          <p:cNvSpPr/>
          <p:nvPr/>
        </p:nvSpPr>
        <p:spPr>
          <a:xfrm>
            <a:off x="8046720" y="2990088"/>
            <a:ext cx="3474720" cy="31089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Llama-3.1-8b-instant (via Groq API)</a:t>
            </a:r>
            <a:endParaRPr lang="en-US" sz="1300" dirty="0"/>
          </a:p>
        </p:txBody>
      </p:sp>
      <p:sp>
        <p:nvSpPr>
          <p:cNvPr id="27" name="Shape 25"/>
          <p:cNvSpPr/>
          <p:nvPr/>
        </p:nvSpPr>
        <p:spPr>
          <a:xfrm>
            <a:off x="7726680" y="3474720"/>
            <a:ext cx="3931920" cy="658368"/>
          </a:xfrm>
          <a:prstGeom prst="roundRect">
            <a:avLst>
              <a:gd name="adj" fmla="val 12500"/>
            </a:avLst>
          </a:prstGeom>
          <a:solidFill>
            <a:srgbClr val="18122B"/>
          </a:solidFill>
          <a:ln/>
        </p:spPr>
      </p:sp>
      <p:sp>
        <p:nvSpPr>
          <p:cNvPr id="28" name="Shape 26"/>
          <p:cNvSpPr/>
          <p:nvPr/>
        </p:nvSpPr>
        <p:spPr>
          <a:xfrm>
            <a:off x="7863840" y="3611880"/>
            <a:ext cx="73152" cy="384048"/>
          </a:xfrm>
          <a:prstGeom prst="roundRect">
            <a:avLst/>
          </a:prstGeom>
          <a:solidFill>
            <a:srgbClr val="7C3AED"/>
          </a:solidFill>
          <a:ln/>
        </p:spPr>
      </p:sp>
      <p:sp>
        <p:nvSpPr>
          <p:cNvPr id="29" name="Text 27"/>
          <p:cNvSpPr/>
          <p:nvPr/>
        </p:nvSpPr>
        <p:spPr>
          <a:xfrm>
            <a:off x="8046720" y="3529584"/>
            <a:ext cx="3474720" cy="274320"/>
          </a:xfrm>
          <a:prstGeom prst="rect">
            <a:avLst/>
          </a:prstGeom>
          <a:noFill/>
          <a:ln/>
        </p:spPr>
        <p:txBody>
          <a:bodyPr wrap="square" rtlCol="0" anchor="ctr"/>
          <a:lstStyle/>
          <a:p>
            <a:pPr marL="0" indent="0">
              <a:buNone/>
            </a:pPr>
            <a:r>
              <a:rPr lang="en-US" sz="1100" b="1" dirty="0">
                <a:solidFill>
                  <a:srgbClr val="8A81A6"/>
                </a:solidFill>
                <a:latin typeface="Calibri" pitchFamily="34" charset="0"/>
                <a:ea typeface="Calibri" pitchFamily="34" charset="-122"/>
                <a:cs typeface="Calibri" pitchFamily="34" charset="-120"/>
              </a:rPr>
              <a:t>Processing Queue</a:t>
            </a:r>
            <a:endParaRPr lang="en-US" sz="1100" dirty="0"/>
          </a:p>
        </p:txBody>
      </p:sp>
      <p:sp>
        <p:nvSpPr>
          <p:cNvPr id="30" name="Text 28"/>
          <p:cNvSpPr/>
          <p:nvPr/>
        </p:nvSpPr>
        <p:spPr>
          <a:xfrm>
            <a:off x="8046720" y="3767328"/>
            <a:ext cx="3474720" cy="31089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FastAPI BackgroundTasks</a:t>
            </a:r>
            <a:endParaRPr lang="en-US" sz="1300" dirty="0"/>
          </a:p>
        </p:txBody>
      </p:sp>
      <p:sp>
        <p:nvSpPr>
          <p:cNvPr id="31" name="Shape 29"/>
          <p:cNvSpPr/>
          <p:nvPr/>
        </p:nvSpPr>
        <p:spPr>
          <a:xfrm>
            <a:off x="7726680" y="4251960"/>
            <a:ext cx="3931920" cy="658368"/>
          </a:xfrm>
          <a:prstGeom prst="roundRect">
            <a:avLst>
              <a:gd name="adj" fmla="val 12500"/>
            </a:avLst>
          </a:prstGeom>
          <a:solidFill>
            <a:srgbClr val="18122B"/>
          </a:solidFill>
          <a:ln/>
        </p:spPr>
      </p:sp>
      <p:sp>
        <p:nvSpPr>
          <p:cNvPr id="32" name="Shape 30"/>
          <p:cNvSpPr/>
          <p:nvPr/>
        </p:nvSpPr>
        <p:spPr>
          <a:xfrm>
            <a:off x="7863840" y="4389120"/>
            <a:ext cx="73152" cy="384048"/>
          </a:xfrm>
          <a:prstGeom prst="roundRect">
            <a:avLst/>
          </a:prstGeom>
          <a:solidFill>
            <a:srgbClr val="7C3AED"/>
          </a:solidFill>
          <a:ln/>
        </p:spPr>
      </p:sp>
      <p:sp>
        <p:nvSpPr>
          <p:cNvPr id="33" name="Text 31"/>
          <p:cNvSpPr/>
          <p:nvPr/>
        </p:nvSpPr>
        <p:spPr>
          <a:xfrm>
            <a:off x="8046720" y="4306824"/>
            <a:ext cx="3474720" cy="274320"/>
          </a:xfrm>
          <a:prstGeom prst="rect">
            <a:avLst/>
          </a:prstGeom>
          <a:noFill/>
          <a:ln/>
        </p:spPr>
        <p:txBody>
          <a:bodyPr wrap="square" rtlCol="0" anchor="ctr"/>
          <a:lstStyle/>
          <a:p>
            <a:pPr marL="0" indent="0">
              <a:buNone/>
            </a:pPr>
            <a:r>
              <a:rPr lang="en-US" sz="1100" b="1" dirty="0">
                <a:solidFill>
                  <a:srgbClr val="8A81A6"/>
                </a:solidFill>
                <a:latin typeface="Calibri" pitchFamily="34" charset="0"/>
                <a:ea typeface="Calibri" pitchFamily="34" charset="-122"/>
                <a:cs typeface="Calibri" pitchFamily="34" charset="-120"/>
              </a:rPr>
              <a:t>NoSQL Storage</a:t>
            </a:r>
            <a:endParaRPr lang="en-US" sz="1100" dirty="0"/>
          </a:p>
        </p:txBody>
      </p:sp>
      <p:sp>
        <p:nvSpPr>
          <p:cNvPr id="34" name="Text 32"/>
          <p:cNvSpPr/>
          <p:nvPr/>
        </p:nvSpPr>
        <p:spPr>
          <a:xfrm>
            <a:off x="8046720" y="4544568"/>
            <a:ext cx="3474720" cy="31089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MongoDB (for rich document schemas)</a:t>
            </a:r>
            <a:endParaRPr lang="en-US" sz="1300" dirty="0"/>
          </a:p>
        </p:txBody>
      </p:sp>
      <p:sp>
        <p:nvSpPr>
          <p:cNvPr id="35" name="Shape 33"/>
          <p:cNvSpPr/>
          <p:nvPr/>
        </p:nvSpPr>
        <p:spPr>
          <a:xfrm>
            <a:off x="7726680" y="5029200"/>
            <a:ext cx="3931920" cy="658368"/>
          </a:xfrm>
          <a:prstGeom prst="roundRect">
            <a:avLst>
              <a:gd name="adj" fmla="val 12500"/>
            </a:avLst>
          </a:prstGeom>
          <a:solidFill>
            <a:srgbClr val="18122B"/>
          </a:solidFill>
          <a:ln/>
        </p:spPr>
      </p:sp>
      <p:sp>
        <p:nvSpPr>
          <p:cNvPr id="36" name="Shape 34"/>
          <p:cNvSpPr/>
          <p:nvPr/>
        </p:nvSpPr>
        <p:spPr>
          <a:xfrm>
            <a:off x="7863840" y="5166360"/>
            <a:ext cx="73152" cy="384048"/>
          </a:xfrm>
          <a:prstGeom prst="roundRect">
            <a:avLst/>
          </a:prstGeom>
          <a:solidFill>
            <a:srgbClr val="7C3AED"/>
          </a:solidFill>
          <a:ln/>
        </p:spPr>
      </p:sp>
      <p:sp>
        <p:nvSpPr>
          <p:cNvPr id="37" name="Text 35"/>
          <p:cNvSpPr/>
          <p:nvPr/>
        </p:nvSpPr>
        <p:spPr>
          <a:xfrm>
            <a:off x="8046720" y="5084064"/>
            <a:ext cx="3474720" cy="274320"/>
          </a:xfrm>
          <a:prstGeom prst="rect">
            <a:avLst/>
          </a:prstGeom>
          <a:noFill/>
          <a:ln/>
        </p:spPr>
        <p:txBody>
          <a:bodyPr wrap="square" rtlCol="0" anchor="ctr"/>
          <a:lstStyle/>
          <a:p>
            <a:pPr marL="0" indent="0">
              <a:buNone/>
            </a:pPr>
            <a:r>
              <a:rPr lang="en-US" sz="1100" b="1" dirty="0">
                <a:solidFill>
                  <a:srgbClr val="8A81A6"/>
                </a:solidFill>
                <a:latin typeface="Calibri" pitchFamily="34" charset="0"/>
                <a:ea typeface="Calibri" pitchFamily="34" charset="-122"/>
                <a:cs typeface="Calibri" pitchFamily="34" charset="-120"/>
              </a:rPr>
              <a:t>Client Library</a:t>
            </a:r>
            <a:endParaRPr lang="en-US" sz="1100" dirty="0"/>
          </a:p>
        </p:txBody>
      </p:sp>
      <p:sp>
        <p:nvSpPr>
          <p:cNvPr id="38" name="Text 36"/>
          <p:cNvSpPr/>
          <p:nvPr/>
        </p:nvSpPr>
        <p:spPr>
          <a:xfrm>
            <a:off x="8046720" y="5321808"/>
            <a:ext cx="3474720" cy="310896"/>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Python Groq SDK</a:t>
            </a:r>
            <a:endParaRPr lang="en-US" sz="1300" dirty="0"/>
          </a:p>
        </p:txBody>
      </p:sp>
      <p:sp>
        <p:nvSpPr>
          <p:cNvPr id="39" name="Text 37"/>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40" name="Text 3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Speech-to-Text with Whisper API</a:t>
            </a:r>
            <a:endParaRPr lang="en-US" sz="3000" dirty="0"/>
          </a:p>
        </p:txBody>
      </p:sp>
      <p:sp>
        <p:nvSpPr>
          <p:cNvPr id="3" name="Shape 1"/>
          <p:cNvSpPr/>
          <p:nvPr/>
        </p:nvSpPr>
        <p:spPr>
          <a:xfrm>
            <a:off x="548640" y="1417320"/>
            <a:ext cx="384048" cy="384048"/>
          </a:xfrm>
          <a:prstGeom prst="ellipse">
            <a:avLst/>
          </a:prstGeom>
          <a:solidFill>
            <a:srgbClr val="34D399"/>
          </a:solidFill>
          <a:ln/>
        </p:spPr>
      </p:sp>
      <p:sp>
        <p:nvSpPr>
          <p:cNvPr id="4" name="Text 2"/>
          <p:cNvSpPr/>
          <p:nvPr/>
        </p:nvSpPr>
        <p:spPr>
          <a:xfrm>
            <a:off x="548640" y="1417320"/>
            <a:ext cx="384048" cy="384048"/>
          </a:xfrm>
          <a:prstGeom prst="rect">
            <a:avLst/>
          </a:prstGeom>
          <a:noFill/>
          <a:ln/>
        </p:spPr>
        <p:txBody>
          <a:bodyPr wrap="square" lIns="0" tIns="0" rIns="0" bIns="0" rtlCol="0" anchor="ctr"/>
          <a:lstStyle/>
          <a:p>
            <a:pPr marL="0" indent="0" algn="ctr">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1097280" y="1380744"/>
            <a:ext cx="448056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Audio Extraction</a:t>
            </a:r>
            <a:endParaRPr lang="en-US" sz="1450" dirty="0"/>
          </a:p>
        </p:txBody>
      </p:sp>
      <p:sp>
        <p:nvSpPr>
          <p:cNvPr id="6" name="Text 4"/>
          <p:cNvSpPr/>
          <p:nvPr/>
        </p:nvSpPr>
        <p:spPr>
          <a:xfrm>
            <a:off x="1097280" y="1673352"/>
            <a:ext cx="4480560" cy="64008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FFmpeg extracts the audio track from the uploaded video as an MP3 file.</a:t>
            </a:r>
            <a:endParaRPr lang="en-US" sz="1250" dirty="0"/>
          </a:p>
        </p:txBody>
      </p:sp>
      <p:sp>
        <p:nvSpPr>
          <p:cNvPr id="7" name="Shape 5"/>
          <p:cNvSpPr/>
          <p:nvPr/>
        </p:nvSpPr>
        <p:spPr>
          <a:xfrm>
            <a:off x="548640" y="2496312"/>
            <a:ext cx="384048" cy="384048"/>
          </a:xfrm>
          <a:prstGeom prst="ellipse">
            <a:avLst/>
          </a:prstGeom>
          <a:solidFill>
            <a:srgbClr val="34D399"/>
          </a:solidFill>
          <a:ln/>
        </p:spPr>
      </p:sp>
      <p:sp>
        <p:nvSpPr>
          <p:cNvPr id="8" name="Text 6"/>
          <p:cNvSpPr/>
          <p:nvPr/>
        </p:nvSpPr>
        <p:spPr>
          <a:xfrm>
            <a:off x="548640" y="2496312"/>
            <a:ext cx="384048" cy="384048"/>
          </a:xfrm>
          <a:prstGeom prst="rect">
            <a:avLst/>
          </a:prstGeom>
          <a:noFill/>
          <a:ln/>
        </p:spPr>
        <p:txBody>
          <a:bodyPr wrap="square" lIns="0" tIns="0" rIns="0" bIns="0" rtlCol="0" anchor="ctr"/>
          <a:lstStyle/>
          <a:p>
            <a:pPr marL="0" indent="0" algn="ctr">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97280" y="2459736"/>
            <a:ext cx="448056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Whisper Large-v3</a:t>
            </a:r>
            <a:endParaRPr lang="en-US" sz="1450" dirty="0"/>
          </a:p>
        </p:txBody>
      </p:sp>
      <p:sp>
        <p:nvSpPr>
          <p:cNvPr id="10" name="Text 8"/>
          <p:cNvSpPr/>
          <p:nvPr/>
        </p:nvSpPr>
        <p:spPr>
          <a:xfrm>
            <a:off x="1097280" y="2752344"/>
            <a:ext cx="4480560" cy="64008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The audio is passed to the Groq API running OpenAI's Whisper model for highly accurate transcription.</a:t>
            </a:r>
            <a:endParaRPr lang="en-US" sz="1250" dirty="0"/>
          </a:p>
        </p:txBody>
      </p:sp>
      <p:sp>
        <p:nvSpPr>
          <p:cNvPr id="11" name="Shape 9"/>
          <p:cNvSpPr/>
          <p:nvPr/>
        </p:nvSpPr>
        <p:spPr>
          <a:xfrm>
            <a:off x="548640" y="3575304"/>
            <a:ext cx="384048" cy="384048"/>
          </a:xfrm>
          <a:prstGeom prst="ellipse">
            <a:avLst/>
          </a:prstGeom>
          <a:solidFill>
            <a:srgbClr val="34D399"/>
          </a:solidFill>
          <a:ln/>
        </p:spPr>
      </p:sp>
      <p:sp>
        <p:nvSpPr>
          <p:cNvPr id="12" name="Text 10"/>
          <p:cNvSpPr/>
          <p:nvPr/>
        </p:nvSpPr>
        <p:spPr>
          <a:xfrm>
            <a:off x="548640" y="3575304"/>
            <a:ext cx="384048" cy="384048"/>
          </a:xfrm>
          <a:prstGeom prst="rect">
            <a:avLst/>
          </a:prstGeom>
          <a:noFill/>
          <a:ln/>
        </p:spPr>
        <p:txBody>
          <a:bodyPr wrap="square" lIns="0" tIns="0" rIns="0" bIns="0" rtlCol="0" anchor="ctr"/>
          <a:lstStyle/>
          <a:p>
            <a:pPr marL="0" indent="0" algn="ctr">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1097280" y="3538728"/>
            <a:ext cx="448056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Verbose JSON format</a:t>
            </a:r>
            <a:endParaRPr lang="en-US" sz="1450" dirty="0"/>
          </a:p>
        </p:txBody>
      </p:sp>
      <p:sp>
        <p:nvSpPr>
          <p:cNvPr id="14" name="Text 12"/>
          <p:cNvSpPr/>
          <p:nvPr/>
        </p:nvSpPr>
        <p:spPr>
          <a:xfrm>
            <a:off x="1097280" y="3831336"/>
            <a:ext cx="4480560" cy="64008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The response includes timestamped segments, allowing us to build interactive UI timelines.</a:t>
            </a:r>
            <a:endParaRPr lang="en-US" sz="1250" dirty="0"/>
          </a:p>
        </p:txBody>
      </p:sp>
      <p:sp>
        <p:nvSpPr>
          <p:cNvPr id="15" name="Shape 13"/>
          <p:cNvSpPr/>
          <p:nvPr/>
        </p:nvSpPr>
        <p:spPr>
          <a:xfrm>
            <a:off x="548640" y="4654296"/>
            <a:ext cx="384048" cy="384048"/>
          </a:xfrm>
          <a:prstGeom prst="ellipse">
            <a:avLst/>
          </a:prstGeom>
          <a:solidFill>
            <a:srgbClr val="34D399"/>
          </a:solidFill>
          <a:ln/>
        </p:spPr>
      </p:sp>
      <p:sp>
        <p:nvSpPr>
          <p:cNvPr id="16" name="Text 14"/>
          <p:cNvSpPr/>
          <p:nvPr/>
        </p:nvSpPr>
        <p:spPr>
          <a:xfrm>
            <a:off x="548640" y="4654296"/>
            <a:ext cx="384048" cy="384048"/>
          </a:xfrm>
          <a:prstGeom prst="rect">
            <a:avLst/>
          </a:prstGeom>
          <a:noFill/>
          <a:ln/>
        </p:spPr>
        <p:txBody>
          <a:bodyPr wrap="square" lIns="0" tIns="0" rIns="0" bIns="0" rtlCol="0" anchor="ctr"/>
          <a:lstStyle/>
          <a:p>
            <a:pPr marL="0" indent="0" algn="ctr">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097280" y="4617720"/>
            <a:ext cx="448056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Resilience built-in</a:t>
            </a:r>
            <a:endParaRPr lang="en-US" sz="1450" dirty="0"/>
          </a:p>
        </p:txBody>
      </p:sp>
      <p:sp>
        <p:nvSpPr>
          <p:cNvPr id="18" name="Text 16"/>
          <p:cNvSpPr/>
          <p:nvPr/>
        </p:nvSpPr>
        <p:spPr>
          <a:xfrm>
            <a:off x="1097280" y="4910328"/>
            <a:ext cx="4480560" cy="64008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Implemented an API Key Rotator and retry mechanisms to handle rate limits automatically.</a:t>
            </a:r>
            <a:endParaRPr lang="en-US" sz="1250" dirty="0"/>
          </a:p>
        </p:txBody>
      </p:sp>
      <p:sp>
        <p:nvSpPr>
          <p:cNvPr id="19" name="Shape 17"/>
          <p:cNvSpPr/>
          <p:nvPr/>
        </p:nvSpPr>
        <p:spPr>
          <a:xfrm>
            <a:off x="5897880" y="1371600"/>
            <a:ext cx="5806440" cy="4800600"/>
          </a:xfrm>
          <a:prstGeom prst="roundRect">
            <a:avLst>
              <a:gd name="adj" fmla="val 2667"/>
            </a:avLst>
          </a:prstGeom>
          <a:solidFill>
            <a:srgbClr val="1F1836"/>
          </a:solidFill>
          <a:ln w="12700">
            <a:solidFill>
              <a:srgbClr val="2E2650"/>
            </a:solidFill>
            <a:prstDash val="solid"/>
          </a:ln>
          <a:effectLst>
            <a:outerShdw blurRad="127000" dist="38100" dir="5400000" algn="bl" rotWithShape="0">
              <a:srgbClr val="000000">
                <a:alpha val="30000"/>
              </a:srgbClr>
            </a:outerShdw>
          </a:effectLst>
        </p:spPr>
      </p:sp>
      <p:pic>
        <p:nvPicPr>
          <p:cNvPr id="20" name="Image 0" descr="D:\me\intern\infosys-ai\extra\milestone2_images\transcript_ui.png"/>
          <p:cNvPicPr>
            <a:picLocks noChangeAspect="1"/>
          </p:cNvPicPr>
          <p:nvPr/>
        </p:nvPicPr>
        <p:blipFill>
          <a:blip r:embed="rId3"/>
          <a:srcRect/>
          <a:stretch/>
        </p:blipFill>
        <p:spPr>
          <a:xfrm>
            <a:off x="5943600" y="1417320"/>
            <a:ext cx="5715000" cy="4709160"/>
          </a:xfrm>
          <a:prstGeom prst="rect">
            <a:avLst/>
          </a:prstGeom>
        </p:spPr>
      </p:pic>
      <p:sp>
        <p:nvSpPr>
          <p:cNvPr id="21" name="Text 1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AI-Powered Transcription</a:t>
            </a:r>
            <a:endParaRPr lang="en-US" sz="3000" dirty="0"/>
          </a:p>
        </p:txBody>
      </p:sp>
      <p:sp>
        <p:nvSpPr>
          <p:cNvPr id="3" name="Shape 1"/>
          <p:cNvSpPr/>
          <p:nvPr/>
        </p:nvSpPr>
        <p:spPr>
          <a:xfrm>
            <a:off x="502920" y="1188720"/>
            <a:ext cx="11155680" cy="3794760"/>
          </a:xfrm>
          <a:prstGeom prst="roundRect">
            <a:avLst>
              <a:gd name="adj" fmla="val 3373"/>
            </a:avLst>
          </a:prstGeom>
          <a:solidFill>
            <a:srgbClr val="1F1836"/>
          </a:solidFill>
          <a:ln w="12700">
            <a:solidFill>
              <a:srgbClr val="2E2650"/>
            </a:solidFill>
            <a:prstDash val="solid"/>
          </a:ln>
          <a:effectLst>
            <a:outerShdw blurRad="127000" dist="38100" dir="5400000" algn="bl" rotWithShape="0">
              <a:srgbClr val="000000">
                <a:alpha val="30000"/>
              </a:srgbClr>
            </a:outerShdw>
          </a:effectLst>
        </p:spPr>
      </p:sp>
      <p:pic>
        <p:nvPicPr>
          <p:cNvPr id="4" name="Image 0" descr="D:\me\intern\infosys-ai\extra\milestone2_images\summary_ui.png"/>
          <p:cNvPicPr>
            <a:picLocks noChangeAspect="1"/>
          </p:cNvPicPr>
          <p:nvPr/>
        </p:nvPicPr>
        <p:blipFill>
          <a:blip r:embed="rId3"/>
          <a:srcRect/>
          <a:stretch/>
        </p:blipFill>
        <p:spPr>
          <a:xfrm>
            <a:off x="548640" y="1234440"/>
            <a:ext cx="11064240" cy="3703320"/>
          </a:xfrm>
          <a:prstGeom prst="rect">
            <a:avLst/>
          </a:prstGeom>
        </p:spPr>
      </p:pic>
      <p:sp>
        <p:nvSpPr>
          <p:cNvPr id="5" name="Shape 2"/>
          <p:cNvSpPr/>
          <p:nvPr/>
        </p:nvSpPr>
        <p:spPr>
          <a:xfrm>
            <a:off x="548640" y="5166360"/>
            <a:ext cx="3630168" cy="960120"/>
          </a:xfrm>
          <a:prstGeom prst="roundRect">
            <a:avLst>
              <a:gd name="adj" fmla="val 9524"/>
            </a:avLst>
          </a:prstGeom>
          <a:solidFill>
            <a:srgbClr val="18122B"/>
          </a:solidFill>
          <a:ln/>
        </p:spPr>
      </p:sp>
      <p:sp>
        <p:nvSpPr>
          <p:cNvPr id="6" name="Text 3"/>
          <p:cNvSpPr/>
          <p:nvPr/>
        </p:nvSpPr>
        <p:spPr>
          <a:xfrm>
            <a:off x="749808" y="5276088"/>
            <a:ext cx="3227832" cy="310896"/>
          </a:xfrm>
          <a:prstGeom prst="rect">
            <a:avLst/>
          </a:prstGeom>
          <a:noFill/>
          <a:ln/>
        </p:spPr>
        <p:txBody>
          <a:bodyPr wrap="square" rtlCol="0" anchor="ctr"/>
          <a:lstStyle/>
          <a:p>
            <a:pPr marL="0" indent="0">
              <a:buNone/>
            </a:pPr>
            <a:r>
              <a:rPr lang="en-US" sz="1300" b="1" dirty="0">
                <a:solidFill>
                  <a:srgbClr val="F0ABFC"/>
                </a:solidFill>
                <a:latin typeface="Calibri" pitchFamily="34" charset="0"/>
                <a:ea typeface="Calibri" pitchFamily="34" charset="-122"/>
                <a:cs typeface="Calibri" pitchFamily="34" charset="-120"/>
              </a:rPr>
              <a:t>Llama-3.1-8b Integration</a:t>
            </a:r>
            <a:endParaRPr lang="en-US" sz="1300" dirty="0"/>
          </a:p>
        </p:txBody>
      </p:sp>
      <p:sp>
        <p:nvSpPr>
          <p:cNvPr id="7" name="Text 4"/>
          <p:cNvSpPr/>
          <p:nvPr/>
        </p:nvSpPr>
        <p:spPr>
          <a:xfrm>
            <a:off x="749808" y="558698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The full transcript is sent to Llama 3 for deep contextual understanding.</a:t>
            </a:r>
            <a:endParaRPr lang="en-US" sz="1050" dirty="0"/>
          </a:p>
        </p:txBody>
      </p:sp>
      <p:sp>
        <p:nvSpPr>
          <p:cNvPr id="8" name="Shape 5"/>
          <p:cNvSpPr/>
          <p:nvPr/>
        </p:nvSpPr>
        <p:spPr>
          <a:xfrm>
            <a:off x="4352544" y="5166360"/>
            <a:ext cx="3630168" cy="960120"/>
          </a:xfrm>
          <a:prstGeom prst="roundRect">
            <a:avLst>
              <a:gd name="adj" fmla="val 9524"/>
            </a:avLst>
          </a:prstGeom>
          <a:solidFill>
            <a:srgbClr val="18122B"/>
          </a:solidFill>
          <a:ln/>
        </p:spPr>
      </p:sp>
      <p:sp>
        <p:nvSpPr>
          <p:cNvPr id="9" name="Text 6"/>
          <p:cNvSpPr/>
          <p:nvPr/>
        </p:nvSpPr>
        <p:spPr>
          <a:xfrm>
            <a:off x="4553712" y="5276088"/>
            <a:ext cx="3227832" cy="310896"/>
          </a:xfrm>
          <a:prstGeom prst="rect">
            <a:avLst/>
          </a:prstGeom>
          <a:noFill/>
          <a:ln/>
        </p:spPr>
        <p:txBody>
          <a:bodyPr wrap="square" rtlCol="0" anchor="ctr"/>
          <a:lstStyle/>
          <a:p>
            <a:pPr marL="0" indent="0">
              <a:buNone/>
            </a:pPr>
            <a:r>
              <a:rPr lang="en-US" sz="1300" b="1" dirty="0">
                <a:solidFill>
                  <a:srgbClr val="F0ABFC"/>
                </a:solidFill>
                <a:latin typeface="Calibri" pitchFamily="34" charset="0"/>
                <a:ea typeface="Calibri" pitchFamily="34" charset="-122"/>
                <a:cs typeface="Calibri" pitchFamily="34" charset="-120"/>
              </a:rPr>
              <a:t>Strict Prompt Engineering</a:t>
            </a:r>
            <a:endParaRPr lang="en-US" sz="1300" dirty="0"/>
          </a:p>
        </p:txBody>
      </p:sp>
      <p:sp>
        <p:nvSpPr>
          <p:cNvPr id="10" name="Text 7"/>
          <p:cNvSpPr/>
          <p:nvPr/>
        </p:nvSpPr>
        <p:spPr>
          <a:xfrm>
            <a:off x="4553712" y="558698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Prompt instructs the model to return a detailed, multi-paragraph analysis in strict JSON.</a:t>
            </a:r>
            <a:endParaRPr lang="en-US" sz="1050" dirty="0"/>
          </a:p>
        </p:txBody>
      </p:sp>
      <p:sp>
        <p:nvSpPr>
          <p:cNvPr id="11" name="Shape 8"/>
          <p:cNvSpPr/>
          <p:nvPr/>
        </p:nvSpPr>
        <p:spPr>
          <a:xfrm>
            <a:off x="8156448" y="5166360"/>
            <a:ext cx="3630168" cy="960120"/>
          </a:xfrm>
          <a:prstGeom prst="roundRect">
            <a:avLst>
              <a:gd name="adj" fmla="val 9524"/>
            </a:avLst>
          </a:prstGeom>
          <a:solidFill>
            <a:srgbClr val="18122B"/>
          </a:solidFill>
          <a:ln/>
        </p:spPr>
      </p:sp>
      <p:sp>
        <p:nvSpPr>
          <p:cNvPr id="12" name="Text 9"/>
          <p:cNvSpPr/>
          <p:nvPr/>
        </p:nvSpPr>
        <p:spPr>
          <a:xfrm>
            <a:off x="8357616" y="5276088"/>
            <a:ext cx="3227832" cy="310896"/>
          </a:xfrm>
          <a:prstGeom prst="rect">
            <a:avLst/>
          </a:prstGeom>
          <a:noFill/>
          <a:ln/>
        </p:spPr>
        <p:txBody>
          <a:bodyPr wrap="square" rtlCol="0" anchor="ctr"/>
          <a:lstStyle/>
          <a:p>
            <a:pPr marL="0" indent="0">
              <a:buNone/>
            </a:pPr>
            <a:r>
              <a:rPr lang="en-US" sz="1300" b="1" dirty="0">
                <a:solidFill>
                  <a:srgbClr val="F0ABFC"/>
                </a:solidFill>
                <a:latin typeface="Calibri" pitchFamily="34" charset="0"/>
                <a:ea typeface="Calibri" pitchFamily="34" charset="-122"/>
                <a:cs typeface="Calibri" pitchFamily="34" charset="-120"/>
              </a:rPr>
              <a:t>Key Moment Extraction</a:t>
            </a:r>
            <a:endParaRPr lang="en-US" sz="1300" dirty="0"/>
          </a:p>
        </p:txBody>
      </p:sp>
      <p:sp>
        <p:nvSpPr>
          <p:cNvPr id="13" name="Text 10"/>
          <p:cNvSpPr/>
          <p:nvPr/>
        </p:nvSpPr>
        <p:spPr>
          <a:xfrm>
            <a:off x="8357616" y="558698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The model simultaneously extracts 3-5 key moments/topics from the video.</a:t>
            </a:r>
            <a:endParaRPr lang="en-US" sz="1050" dirty="0"/>
          </a:p>
        </p:txBody>
      </p:sp>
      <p:sp>
        <p:nvSpPr>
          <p:cNvPr id="14" name="Text 11"/>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Transcript Storage with MongoDB</a:t>
            </a:r>
            <a:endParaRPr lang="en-US" sz="30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300" i="1" dirty="0">
                <a:solidFill>
                  <a:srgbClr val="8A81A6"/>
                </a:solidFill>
                <a:latin typeface="Calibri" pitchFamily="34" charset="0"/>
                <a:ea typeface="Calibri" pitchFamily="34" charset="-122"/>
                <a:cs typeface="Calibri" pitchFamily="34" charset="-120"/>
              </a:rPr>
              <a:t>Bridging relational (Postgres) and document (Mongo) stores</a:t>
            </a:r>
            <a:endParaRPr lang="en-US" sz="1300" dirty="0"/>
          </a:p>
        </p:txBody>
      </p:sp>
      <p:sp>
        <p:nvSpPr>
          <p:cNvPr id="4" name="Shape 2"/>
          <p:cNvSpPr/>
          <p:nvPr/>
        </p:nvSpPr>
        <p:spPr>
          <a:xfrm>
            <a:off x="502920" y="1417320"/>
            <a:ext cx="6629400" cy="4709160"/>
          </a:xfrm>
          <a:prstGeom prst="roundRect">
            <a:avLst>
              <a:gd name="adj" fmla="val 2718"/>
            </a:avLst>
          </a:prstGeom>
          <a:solidFill>
            <a:srgbClr val="1F1836"/>
          </a:solidFill>
          <a:ln w="12700">
            <a:solidFill>
              <a:srgbClr val="2E2650"/>
            </a:solidFill>
            <a:prstDash val="solid"/>
          </a:ln>
          <a:effectLst>
            <a:outerShdw blurRad="127000" dist="38100" dir="5400000" algn="bl" rotWithShape="0">
              <a:srgbClr val="000000">
                <a:alpha val="30000"/>
              </a:srgbClr>
            </a:outerShdw>
          </a:effectLst>
        </p:spPr>
      </p:sp>
      <p:pic>
        <p:nvPicPr>
          <p:cNvPr id="5" name="Image 0" descr="D:\me\intern\infosys-ai\extra\milestone2_images\mongodb.png"/>
          <p:cNvPicPr>
            <a:picLocks noChangeAspect="1"/>
          </p:cNvPicPr>
          <p:nvPr/>
        </p:nvPicPr>
        <p:blipFill>
          <a:blip r:embed="rId3"/>
          <a:srcRect/>
          <a:stretch/>
        </p:blipFill>
        <p:spPr>
          <a:xfrm>
            <a:off x="548640" y="1463040"/>
            <a:ext cx="6537960" cy="4617720"/>
          </a:xfrm>
          <a:prstGeom prst="rect">
            <a:avLst/>
          </a:prstGeom>
        </p:spPr>
      </p:pic>
      <p:sp>
        <p:nvSpPr>
          <p:cNvPr id="6" name="Shape 3"/>
          <p:cNvSpPr/>
          <p:nvPr/>
        </p:nvSpPr>
        <p:spPr>
          <a:xfrm>
            <a:off x="7360920" y="1783080"/>
            <a:ext cx="4297680" cy="1078992"/>
          </a:xfrm>
          <a:prstGeom prst="roundRect">
            <a:avLst>
              <a:gd name="adj" fmla="val 8475"/>
            </a:avLst>
          </a:prstGeom>
          <a:solidFill>
            <a:srgbClr val="18122B"/>
          </a:solidFill>
          <a:ln/>
        </p:spPr>
      </p:sp>
      <p:sp>
        <p:nvSpPr>
          <p:cNvPr id="7" name="Shape 4"/>
          <p:cNvSpPr/>
          <p:nvPr/>
        </p:nvSpPr>
        <p:spPr>
          <a:xfrm>
            <a:off x="7543800" y="1965960"/>
            <a:ext cx="457200" cy="457200"/>
          </a:xfrm>
          <a:prstGeom prst="ellipse">
            <a:avLst/>
          </a:prstGeom>
          <a:solidFill>
            <a:srgbClr val="7C3AED"/>
          </a:solidFill>
          <a:ln/>
        </p:spPr>
      </p:sp>
      <p:sp>
        <p:nvSpPr>
          <p:cNvPr id="8" name="Text 5"/>
          <p:cNvSpPr/>
          <p:nvPr/>
        </p:nvSpPr>
        <p:spPr>
          <a:xfrm>
            <a:off x="754380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8183880" y="1920240"/>
            <a:ext cx="329184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Why MongoDB?</a:t>
            </a:r>
            <a:endParaRPr lang="en-US" sz="1450" dirty="0"/>
          </a:p>
        </p:txBody>
      </p:sp>
      <p:sp>
        <p:nvSpPr>
          <p:cNvPr id="10" name="Text 7"/>
          <p:cNvSpPr/>
          <p:nvPr/>
        </p:nvSpPr>
        <p:spPr>
          <a:xfrm>
            <a:off x="8183880" y="2240280"/>
            <a:ext cx="3291840" cy="54864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Transcripts consist of hundreds of nested segments (start, end, text). Relational tables are inefficient for this.</a:t>
            </a:r>
            <a:endParaRPr lang="en-US" sz="1150" dirty="0"/>
          </a:p>
        </p:txBody>
      </p:sp>
      <p:sp>
        <p:nvSpPr>
          <p:cNvPr id="11" name="Shape 8"/>
          <p:cNvSpPr/>
          <p:nvPr/>
        </p:nvSpPr>
        <p:spPr>
          <a:xfrm>
            <a:off x="7360920" y="2990088"/>
            <a:ext cx="4297680" cy="1078992"/>
          </a:xfrm>
          <a:prstGeom prst="roundRect">
            <a:avLst>
              <a:gd name="adj" fmla="val 8475"/>
            </a:avLst>
          </a:prstGeom>
          <a:solidFill>
            <a:srgbClr val="18122B"/>
          </a:solidFill>
          <a:ln/>
        </p:spPr>
      </p:sp>
      <p:sp>
        <p:nvSpPr>
          <p:cNvPr id="12" name="Shape 9"/>
          <p:cNvSpPr/>
          <p:nvPr/>
        </p:nvSpPr>
        <p:spPr>
          <a:xfrm>
            <a:off x="7543800" y="3172968"/>
            <a:ext cx="457200" cy="457200"/>
          </a:xfrm>
          <a:prstGeom prst="ellipse">
            <a:avLst/>
          </a:prstGeom>
          <a:solidFill>
            <a:srgbClr val="7C3AED"/>
          </a:solidFill>
          <a:ln/>
        </p:spPr>
      </p:sp>
      <p:sp>
        <p:nvSpPr>
          <p:cNvPr id="13" name="Text 10"/>
          <p:cNvSpPr/>
          <p:nvPr/>
        </p:nvSpPr>
        <p:spPr>
          <a:xfrm>
            <a:off x="7543800" y="31729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8183880" y="3127248"/>
            <a:ext cx="329184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The Architecture</a:t>
            </a:r>
            <a:endParaRPr lang="en-US" sz="1450" dirty="0"/>
          </a:p>
        </p:txBody>
      </p:sp>
      <p:sp>
        <p:nvSpPr>
          <p:cNvPr id="15" name="Text 12"/>
          <p:cNvSpPr/>
          <p:nvPr/>
        </p:nvSpPr>
        <p:spPr>
          <a:xfrm>
            <a:off x="8183880" y="3447288"/>
            <a:ext cx="3291840" cy="54864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Postgres handles Users and Video metadata. MongoDB handles the heavy, unstructured AI output.</a:t>
            </a:r>
            <a:endParaRPr lang="en-US" sz="1150" dirty="0"/>
          </a:p>
        </p:txBody>
      </p:sp>
      <p:sp>
        <p:nvSpPr>
          <p:cNvPr id="16" name="Shape 13"/>
          <p:cNvSpPr/>
          <p:nvPr/>
        </p:nvSpPr>
        <p:spPr>
          <a:xfrm>
            <a:off x="7360920" y="4197096"/>
            <a:ext cx="4297680" cy="1078992"/>
          </a:xfrm>
          <a:prstGeom prst="roundRect">
            <a:avLst>
              <a:gd name="adj" fmla="val 8475"/>
            </a:avLst>
          </a:prstGeom>
          <a:solidFill>
            <a:srgbClr val="18122B"/>
          </a:solidFill>
          <a:ln/>
        </p:spPr>
      </p:sp>
      <p:sp>
        <p:nvSpPr>
          <p:cNvPr id="17" name="Shape 14"/>
          <p:cNvSpPr/>
          <p:nvPr/>
        </p:nvSpPr>
        <p:spPr>
          <a:xfrm>
            <a:off x="7543800" y="4379976"/>
            <a:ext cx="457200" cy="457200"/>
          </a:xfrm>
          <a:prstGeom prst="ellipse">
            <a:avLst/>
          </a:prstGeom>
          <a:solidFill>
            <a:srgbClr val="D946EF"/>
          </a:solidFill>
          <a:ln/>
        </p:spPr>
      </p:sp>
      <p:sp>
        <p:nvSpPr>
          <p:cNvPr id="18" name="Text 15"/>
          <p:cNvSpPr/>
          <p:nvPr/>
        </p:nvSpPr>
        <p:spPr>
          <a:xfrm>
            <a:off x="7543800" y="43799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8183880" y="4334256"/>
            <a:ext cx="3291840" cy="292608"/>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Collections</a:t>
            </a:r>
            <a:endParaRPr lang="en-US" sz="1450" dirty="0"/>
          </a:p>
        </p:txBody>
      </p:sp>
      <p:sp>
        <p:nvSpPr>
          <p:cNvPr id="20" name="Text 17"/>
          <p:cNvSpPr/>
          <p:nvPr/>
        </p:nvSpPr>
        <p:spPr>
          <a:xfrm>
            <a:off x="8183880" y="4654296"/>
            <a:ext cx="3291840" cy="54864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'transcripts' and 'summaries' collections linked to Postgres via video_id.</a:t>
            </a:r>
            <a:endParaRPr lang="en-US" sz="1150" dirty="0"/>
          </a:p>
        </p:txBody>
      </p:sp>
      <p:sp>
        <p:nvSpPr>
          <p:cNvPr id="21" name="Text 18"/>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Decoupled Processing &amp; Chain of Thought UI</a:t>
            </a:r>
            <a:endParaRPr lang="en-US" sz="3000" dirty="0"/>
          </a:p>
        </p:txBody>
      </p:sp>
      <p:sp>
        <p:nvSpPr>
          <p:cNvPr id="3" name="Shape 1"/>
          <p:cNvSpPr/>
          <p:nvPr/>
        </p:nvSpPr>
        <p:spPr>
          <a:xfrm>
            <a:off x="502920" y="1371600"/>
            <a:ext cx="6035040" cy="4800600"/>
          </a:xfrm>
          <a:prstGeom prst="roundRect">
            <a:avLst>
              <a:gd name="adj" fmla="val 2667"/>
            </a:avLst>
          </a:prstGeom>
          <a:solidFill>
            <a:srgbClr val="1F1836"/>
          </a:solidFill>
          <a:ln w="12700">
            <a:solidFill>
              <a:srgbClr val="2E2650"/>
            </a:solidFill>
            <a:prstDash val="solid"/>
          </a:ln>
          <a:effectLst>
            <a:outerShdw blurRad="127000" dist="38100" dir="5400000" algn="bl" rotWithShape="0">
              <a:srgbClr val="000000">
                <a:alpha val="30000"/>
              </a:srgbClr>
            </a:outerShdw>
          </a:effectLst>
        </p:spPr>
      </p:sp>
      <p:pic>
        <p:nvPicPr>
          <p:cNvPr id="4" name="Image 0" descr="D:\me\intern\infosys-ai\extra\milestone2_images\processing_ui.png"/>
          <p:cNvPicPr>
            <a:picLocks noChangeAspect="1"/>
          </p:cNvPicPr>
          <p:nvPr/>
        </p:nvPicPr>
        <p:blipFill>
          <a:blip r:embed="rId3"/>
          <a:srcRect/>
          <a:stretch/>
        </p:blipFill>
        <p:spPr>
          <a:xfrm>
            <a:off x="548640" y="1417320"/>
            <a:ext cx="5943600" cy="4709160"/>
          </a:xfrm>
          <a:prstGeom prst="rect">
            <a:avLst/>
          </a:prstGeom>
        </p:spPr>
      </p:pic>
      <p:sp>
        <p:nvSpPr>
          <p:cNvPr id="5" name="Shape 2"/>
          <p:cNvSpPr/>
          <p:nvPr/>
        </p:nvSpPr>
        <p:spPr>
          <a:xfrm>
            <a:off x="6858000" y="1463040"/>
            <a:ext cx="402336" cy="402336"/>
          </a:xfrm>
          <a:prstGeom prst="ellipse">
            <a:avLst/>
          </a:prstGeom>
          <a:solidFill>
            <a:srgbClr val="7C3AED"/>
          </a:solidFill>
          <a:ln/>
        </p:spPr>
      </p:sp>
      <p:sp>
        <p:nvSpPr>
          <p:cNvPr id="6" name="Text 3"/>
          <p:cNvSpPr/>
          <p:nvPr/>
        </p:nvSpPr>
        <p:spPr>
          <a:xfrm>
            <a:off x="6858000" y="14630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7452360" y="1408176"/>
            <a:ext cx="4206240" cy="6858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Upload is now instant. Video metadata is saved and file is stored.</a:t>
            </a:r>
            <a:endParaRPr lang="en-US" sz="1300" dirty="0"/>
          </a:p>
        </p:txBody>
      </p:sp>
      <p:sp>
        <p:nvSpPr>
          <p:cNvPr id="8" name="Shape 5"/>
          <p:cNvSpPr/>
          <p:nvPr/>
        </p:nvSpPr>
        <p:spPr>
          <a:xfrm>
            <a:off x="7059168" y="1865376"/>
            <a:ext cx="0" cy="502920"/>
          </a:xfrm>
          <a:prstGeom prst="line">
            <a:avLst/>
          </a:prstGeom>
          <a:noFill/>
          <a:ln w="19050">
            <a:solidFill>
              <a:srgbClr val="2E2650"/>
            </a:solidFill>
            <a:prstDash val="dash"/>
          </a:ln>
        </p:spPr>
      </p:sp>
      <p:sp>
        <p:nvSpPr>
          <p:cNvPr id="9" name="Shape 6"/>
          <p:cNvSpPr/>
          <p:nvPr/>
        </p:nvSpPr>
        <p:spPr>
          <a:xfrm>
            <a:off x="6858000" y="2368296"/>
            <a:ext cx="402336" cy="402336"/>
          </a:xfrm>
          <a:prstGeom prst="ellipse">
            <a:avLst/>
          </a:prstGeom>
          <a:solidFill>
            <a:srgbClr val="7C3AED"/>
          </a:solidFill>
          <a:ln/>
        </p:spPr>
      </p:sp>
      <p:sp>
        <p:nvSpPr>
          <p:cNvPr id="10" name="Text 7"/>
          <p:cNvSpPr/>
          <p:nvPr/>
        </p:nvSpPr>
        <p:spPr>
          <a:xfrm>
            <a:off x="6858000" y="236829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7452360" y="2313432"/>
            <a:ext cx="4206240" cy="6858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User clicks the manual 'Generate AI Insights' button when ready.</a:t>
            </a:r>
            <a:endParaRPr lang="en-US" sz="1300" dirty="0"/>
          </a:p>
        </p:txBody>
      </p:sp>
      <p:sp>
        <p:nvSpPr>
          <p:cNvPr id="12" name="Shape 9"/>
          <p:cNvSpPr/>
          <p:nvPr/>
        </p:nvSpPr>
        <p:spPr>
          <a:xfrm>
            <a:off x="7059168" y="2770632"/>
            <a:ext cx="0" cy="502920"/>
          </a:xfrm>
          <a:prstGeom prst="line">
            <a:avLst/>
          </a:prstGeom>
          <a:noFill/>
          <a:ln w="19050">
            <a:solidFill>
              <a:srgbClr val="2E2650"/>
            </a:solidFill>
            <a:prstDash val="dash"/>
          </a:ln>
        </p:spPr>
      </p:sp>
      <p:sp>
        <p:nvSpPr>
          <p:cNvPr id="13" name="Shape 10"/>
          <p:cNvSpPr/>
          <p:nvPr/>
        </p:nvSpPr>
        <p:spPr>
          <a:xfrm>
            <a:off x="6858000" y="3273552"/>
            <a:ext cx="402336" cy="402336"/>
          </a:xfrm>
          <a:prstGeom prst="ellipse">
            <a:avLst/>
          </a:prstGeom>
          <a:solidFill>
            <a:srgbClr val="7C3AED"/>
          </a:solidFill>
          <a:ln/>
        </p:spPr>
      </p:sp>
      <p:sp>
        <p:nvSpPr>
          <p:cNvPr id="14" name="Text 11"/>
          <p:cNvSpPr/>
          <p:nvPr/>
        </p:nvSpPr>
        <p:spPr>
          <a:xfrm>
            <a:off x="6858000" y="32735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7452360" y="3218688"/>
            <a:ext cx="4206240" cy="6858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UI enters a 'Chain of Thought' processing state (e.g., 'Extracting Audio...').</a:t>
            </a:r>
            <a:endParaRPr lang="en-US" sz="1300" dirty="0"/>
          </a:p>
        </p:txBody>
      </p:sp>
      <p:sp>
        <p:nvSpPr>
          <p:cNvPr id="16" name="Shape 13"/>
          <p:cNvSpPr/>
          <p:nvPr/>
        </p:nvSpPr>
        <p:spPr>
          <a:xfrm>
            <a:off x="7059168" y="3675888"/>
            <a:ext cx="0" cy="502920"/>
          </a:xfrm>
          <a:prstGeom prst="line">
            <a:avLst/>
          </a:prstGeom>
          <a:noFill/>
          <a:ln w="19050">
            <a:solidFill>
              <a:srgbClr val="2E2650"/>
            </a:solidFill>
            <a:prstDash val="dash"/>
          </a:ln>
        </p:spPr>
      </p:sp>
      <p:sp>
        <p:nvSpPr>
          <p:cNvPr id="17" name="Shape 14"/>
          <p:cNvSpPr/>
          <p:nvPr/>
        </p:nvSpPr>
        <p:spPr>
          <a:xfrm>
            <a:off x="6858000" y="4178808"/>
            <a:ext cx="402336" cy="402336"/>
          </a:xfrm>
          <a:prstGeom prst="ellipse">
            <a:avLst/>
          </a:prstGeom>
          <a:solidFill>
            <a:srgbClr val="7C3AED"/>
          </a:solidFill>
          <a:ln/>
        </p:spPr>
      </p:sp>
      <p:sp>
        <p:nvSpPr>
          <p:cNvPr id="18" name="Text 15"/>
          <p:cNvSpPr/>
          <p:nvPr/>
        </p:nvSpPr>
        <p:spPr>
          <a:xfrm>
            <a:off x="6858000" y="417880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p:nvPr/>
        </p:nvSpPr>
        <p:spPr>
          <a:xfrm>
            <a:off x="7452360" y="4123944"/>
            <a:ext cx="4206240" cy="6858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Background task runs the API calls sequentially without blocking.</a:t>
            </a:r>
            <a:endParaRPr lang="en-US" sz="1300" dirty="0"/>
          </a:p>
        </p:txBody>
      </p:sp>
      <p:sp>
        <p:nvSpPr>
          <p:cNvPr id="20" name="Shape 17"/>
          <p:cNvSpPr/>
          <p:nvPr/>
        </p:nvSpPr>
        <p:spPr>
          <a:xfrm>
            <a:off x="7059168" y="4581144"/>
            <a:ext cx="0" cy="502920"/>
          </a:xfrm>
          <a:prstGeom prst="line">
            <a:avLst/>
          </a:prstGeom>
          <a:noFill/>
          <a:ln w="19050">
            <a:solidFill>
              <a:srgbClr val="2E2650"/>
            </a:solidFill>
            <a:prstDash val="dash"/>
          </a:ln>
        </p:spPr>
      </p:sp>
      <p:sp>
        <p:nvSpPr>
          <p:cNvPr id="21" name="Shape 18"/>
          <p:cNvSpPr/>
          <p:nvPr/>
        </p:nvSpPr>
        <p:spPr>
          <a:xfrm>
            <a:off x="6858000" y="5084064"/>
            <a:ext cx="402336" cy="402336"/>
          </a:xfrm>
          <a:prstGeom prst="ellipse">
            <a:avLst/>
          </a:prstGeom>
          <a:solidFill>
            <a:srgbClr val="34D399"/>
          </a:solidFill>
          <a:ln/>
        </p:spPr>
      </p:sp>
      <p:sp>
        <p:nvSpPr>
          <p:cNvPr id="22" name="Text 19"/>
          <p:cNvSpPr/>
          <p:nvPr/>
        </p:nvSpPr>
        <p:spPr>
          <a:xfrm>
            <a:off x="6858000" y="5084064"/>
            <a:ext cx="402336" cy="402336"/>
          </a:xfrm>
          <a:prstGeom prst="rect">
            <a:avLst/>
          </a:prstGeom>
          <a:noFill/>
          <a:ln/>
        </p:spPr>
        <p:txBody>
          <a:bodyPr wrap="square" lIns="0" tIns="0" rIns="0" bIns="0" rtlCol="0" anchor="ctr"/>
          <a:lstStyle/>
          <a:p>
            <a:pPr marL="0" indent="0" algn="ctr">
              <a:buNone/>
            </a:pPr>
            <a:r>
              <a:rPr lang="en-US" sz="1500" b="1" dirty="0">
                <a:solidFill>
                  <a:srgbClr val="0D0A16"/>
                </a:solidFill>
                <a:latin typeface="Calibri" pitchFamily="34" charset="0"/>
                <a:ea typeface="Calibri" pitchFamily="34" charset="-122"/>
                <a:cs typeface="Calibri" pitchFamily="34" charset="-120"/>
              </a:rPr>
              <a:t>5</a:t>
            </a:r>
            <a:endParaRPr lang="en-US" sz="1500" dirty="0"/>
          </a:p>
        </p:txBody>
      </p:sp>
      <p:sp>
        <p:nvSpPr>
          <p:cNvPr id="23" name="Text 20"/>
          <p:cNvSpPr/>
          <p:nvPr/>
        </p:nvSpPr>
        <p:spPr>
          <a:xfrm>
            <a:off x="7452360" y="5029200"/>
            <a:ext cx="4206240" cy="6858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UI refreshes automatically upon completion to reveal the AI analysis.</a:t>
            </a:r>
            <a:endParaRPr lang="en-US" sz="1300" dirty="0"/>
          </a:p>
        </p:txBody>
      </p:sp>
      <p:sp>
        <p:nvSpPr>
          <p:cNvPr id="24" name="Text 21"/>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25" name="Text 2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AI Evaluation &amp; Performance</a:t>
            </a:r>
            <a:endParaRPr lang="en-US" sz="3000" dirty="0"/>
          </a:p>
        </p:txBody>
      </p:sp>
      <p:sp>
        <p:nvSpPr>
          <p:cNvPr id="3" name="Text 1"/>
          <p:cNvSpPr/>
          <p:nvPr/>
        </p:nvSpPr>
        <p:spPr>
          <a:xfrm>
            <a:off x="548640" y="960120"/>
            <a:ext cx="7315200" cy="365760"/>
          </a:xfrm>
          <a:prstGeom prst="rect">
            <a:avLst/>
          </a:prstGeom>
          <a:noFill/>
          <a:ln/>
        </p:spPr>
        <p:txBody>
          <a:bodyPr wrap="square" rtlCol="0" anchor="ctr"/>
          <a:lstStyle/>
          <a:p>
            <a:pPr marL="0" indent="0">
              <a:buNone/>
            </a:pPr>
            <a:r>
              <a:rPr lang="en-US" sz="1300" i="1" dirty="0">
                <a:solidFill>
                  <a:srgbClr val="8A81A6"/>
                </a:solidFill>
                <a:latin typeface="Calibri" pitchFamily="34" charset="0"/>
                <a:ea typeface="Calibri" pitchFamily="34" charset="-122"/>
                <a:cs typeface="Calibri" pitchFamily="34" charset="-120"/>
              </a:rPr>
              <a:t>Blazing fast summarization via Groq API (Llama-3) and HuggingFace fallbacks</a:t>
            </a:r>
            <a:endParaRPr lang="en-US" sz="1300" dirty="0"/>
          </a:p>
        </p:txBody>
      </p:sp>
      <p:sp>
        <p:nvSpPr>
          <p:cNvPr id="4" name="Shape 2"/>
          <p:cNvSpPr/>
          <p:nvPr/>
        </p:nvSpPr>
        <p:spPr>
          <a:xfrm>
            <a:off x="502920" y="1371600"/>
            <a:ext cx="11155680" cy="3794760"/>
          </a:xfrm>
          <a:prstGeom prst="roundRect">
            <a:avLst>
              <a:gd name="adj" fmla="val 3373"/>
            </a:avLst>
          </a:prstGeom>
          <a:solidFill>
            <a:srgbClr val="1F1836"/>
          </a:solidFill>
          <a:ln w="12700">
            <a:solidFill>
              <a:srgbClr val="2E2650"/>
            </a:solidFill>
            <a:prstDash val="solid"/>
          </a:ln>
          <a:effectLst>
            <a:outerShdw blurRad="127000" dist="38100" dir="5400000" algn="bl" rotWithShape="0">
              <a:srgbClr val="000000">
                <a:alpha val="30000"/>
              </a:srgbClr>
            </a:outerShdw>
          </a:effectLst>
        </p:spPr>
      </p:sp>
      <p:pic>
        <p:nvPicPr>
          <p:cNvPr id="5" name="Image 0" descr="D:\me\intern\infosys-ai\extra\milestone2_images\eval_script.png"/>
          <p:cNvPicPr>
            <a:picLocks noChangeAspect="1"/>
          </p:cNvPicPr>
          <p:nvPr/>
        </p:nvPicPr>
        <p:blipFill>
          <a:blip r:embed="rId3"/>
          <a:srcRect/>
          <a:stretch/>
        </p:blipFill>
        <p:spPr>
          <a:xfrm>
            <a:off x="548640" y="1417320"/>
            <a:ext cx="11064240" cy="3703320"/>
          </a:xfrm>
          <a:prstGeom prst="rect">
            <a:avLst/>
          </a:prstGeom>
        </p:spPr>
      </p:pic>
      <p:sp>
        <p:nvSpPr>
          <p:cNvPr id="6" name="Shape 3"/>
          <p:cNvSpPr/>
          <p:nvPr/>
        </p:nvSpPr>
        <p:spPr>
          <a:xfrm>
            <a:off x="548640" y="5257800"/>
            <a:ext cx="3630168" cy="914400"/>
          </a:xfrm>
          <a:prstGeom prst="roundRect">
            <a:avLst>
              <a:gd name="adj" fmla="val 10000"/>
            </a:avLst>
          </a:prstGeom>
          <a:solidFill>
            <a:srgbClr val="18122B"/>
          </a:solidFill>
          <a:ln/>
        </p:spPr>
      </p:sp>
      <p:sp>
        <p:nvSpPr>
          <p:cNvPr id="7" name="Text 4"/>
          <p:cNvSpPr/>
          <p:nvPr/>
        </p:nvSpPr>
        <p:spPr>
          <a:xfrm>
            <a:off x="749808" y="5367528"/>
            <a:ext cx="3227832" cy="310896"/>
          </a:xfrm>
          <a:prstGeom prst="rect">
            <a:avLst/>
          </a:prstGeom>
          <a:noFill/>
          <a:ln/>
        </p:spPr>
        <p:txBody>
          <a:bodyPr wrap="square"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HuggingFace Integration</a:t>
            </a:r>
            <a:endParaRPr lang="en-US" sz="1300" dirty="0"/>
          </a:p>
        </p:txBody>
      </p:sp>
      <p:sp>
        <p:nvSpPr>
          <p:cNvPr id="8" name="Text 5"/>
          <p:cNvSpPr/>
          <p:nvPr/>
        </p:nvSpPr>
        <p:spPr>
          <a:xfrm>
            <a:off x="749808" y="567842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Utilized HuggingFace resources for fallback models and local evaluation baselines.</a:t>
            </a:r>
            <a:endParaRPr lang="en-US" sz="1050" dirty="0"/>
          </a:p>
        </p:txBody>
      </p:sp>
      <p:sp>
        <p:nvSpPr>
          <p:cNvPr id="9" name="Shape 6"/>
          <p:cNvSpPr/>
          <p:nvPr/>
        </p:nvSpPr>
        <p:spPr>
          <a:xfrm>
            <a:off x="4352544" y="5257800"/>
            <a:ext cx="3630168" cy="914400"/>
          </a:xfrm>
          <a:prstGeom prst="roundRect">
            <a:avLst>
              <a:gd name="adj" fmla="val 10000"/>
            </a:avLst>
          </a:prstGeom>
          <a:solidFill>
            <a:srgbClr val="18122B"/>
          </a:solidFill>
          <a:ln/>
        </p:spPr>
      </p:sp>
      <p:sp>
        <p:nvSpPr>
          <p:cNvPr id="10" name="Text 7"/>
          <p:cNvSpPr/>
          <p:nvPr/>
        </p:nvSpPr>
        <p:spPr>
          <a:xfrm>
            <a:off x="4553712" y="5367528"/>
            <a:ext cx="3227832" cy="310896"/>
          </a:xfrm>
          <a:prstGeom prst="rect">
            <a:avLst/>
          </a:prstGeom>
          <a:noFill/>
          <a:ln/>
        </p:spPr>
        <p:txBody>
          <a:bodyPr wrap="square"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Groq API Speed</a:t>
            </a:r>
            <a:endParaRPr lang="en-US" sz="1300" dirty="0"/>
          </a:p>
        </p:txBody>
      </p:sp>
      <p:sp>
        <p:nvSpPr>
          <p:cNvPr id="11" name="Text 8"/>
          <p:cNvSpPr/>
          <p:nvPr/>
        </p:nvSpPr>
        <p:spPr>
          <a:xfrm>
            <a:off x="4553712" y="567842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Achieved extremely fast processing times (~1 second) for complex NLP summarizations.</a:t>
            </a:r>
            <a:endParaRPr lang="en-US" sz="1050" dirty="0"/>
          </a:p>
        </p:txBody>
      </p:sp>
      <p:sp>
        <p:nvSpPr>
          <p:cNvPr id="12" name="Shape 9"/>
          <p:cNvSpPr/>
          <p:nvPr/>
        </p:nvSpPr>
        <p:spPr>
          <a:xfrm>
            <a:off x="8156448" y="5257800"/>
            <a:ext cx="3630168" cy="914400"/>
          </a:xfrm>
          <a:prstGeom prst="roundRect">
            <a:avLst>
              <a:gd name="adj" fmla="val 10000"/>
            </a:avLst>
          </a:prstGeom>
          <a:solidFill>
            <a:srgbClr val="18122B"/>
          </a:solidFill>
          <a:ln/>
        </p:spPr>
      </p:sp>
      <p:sp>
        <p:nvSpPr>
          <p:cNvPr id="13" name="Text 10"/>
          <p:cNvSpPr/>
          <p:nvPr/>
        </p:nvSpPr>
        <p:spPr>
          <a:xfrm>
            <a:off x="8357616" y="5367528"/>
            <a:ext cx="3227832" cy="310896"/>
          </a:xfrm>
          <a:prstGeom prst="rect">
            <a:avLst/>
          </a:prstGeom>
          <a:noFill/>
          <a:ln/>
        </p:spPr>
        <p:txBody>
          <a:bodyPr wrap="square"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High Quality Insights</a:t>
            </a:r>
            <a:endParaRPr lang="en-US" sz="1300" dirty="0"/>
          </a:p>
        </p:txBody>
      </p:sp>
      <p:sp>
        <p:nvSpPr>
          <p:cNvPr id="14" name="Text 11"/>
          <p:cNvSpPr/>
          <p:nvPr/>
        </p:nvSpPr>
        <p:spPr>
          <a:xfrm>
            <a:off x="8357616" y="5678424"/>
            <a:ext cx="3227832" cy="502920"/>
          </a:xfrm>
          <a:prstGeom prst="rect">
            <a:avLst/>
          </a:prstGeom>
          <a:noFill/>
          <a:ln/>
        </p:spPr>
        <p:txBody>
          <a:bodyPr wrap="square" rtlCol="0" anchor="ctr"/>
          <a:lstStyle/>
          <a:p>
            <a:pPr marL="0" indent="0">
              <a:buNone/>
            </a:pPr>
            <a:r>
              <a:rPr lang="en-US" sz="1050" dirty="0">
                <a:solidFill>
                  <a:srgbClr val="B7AECF"/>
                </a:solidFill>
                <a:latin typeface="Calibri" pitchFamily="34" charset="0"/>
                <a:ea typeface="Calibri" pitchFamily="34" charset="-122"/>
                <a:cs typeface="Calibri" pitchFamily="34" charset="-120"/>
              </a:rPr>
              <a:t>Ensured the generated summaries effectively cover the core topics natively and accurately.</a:t>
            </a:r>
            <a:endParaRPr lang="en-US" sz="1050" dirty="0"/>
          </a:p>
        </p:txBody>
      </p:sp>
      <p:sp>
        <p:nvSpPr>
          <p:cNvPr id="15" name="Text 12"/>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16"/>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Milestone 2 Checklist &amp; Achievements</a:t>
            </a:r>
            <a:endParaRPr lang="en-US" sz="3000" dirty="0"/>
          </a:p>
        </p:txBody>
      </p:sp>
      <p:sp>
        <p:nvSpPr>
          <p:cNvPr id="3" name="Shape 1"/>
          <p:cNvSpPr/>
          <p:nvPr/>
        </p:nvSpPr>
        <p:spPr>
          <a:xfrm>
            <a:off x="548640" y="1417320"/>
            <a:ext cx="3630168" cy="2011680"/>
          </a:xfrm>
          <a:prstGeom prst="roundRect">
            <a:avLst>
              <a:gd name="adj" fmla="val 5455"/>
            </a:avLst>
          </a:prstGeom>
          <a:solidFill>
            <a:srgbClr val="18122B"/>
          </a:solidFill>
          <a:ln/>
        </p:spPr>
      </p:sp>
      <p:sp>
        <p:nvSpPr>
          <p:cNvPr id="4" name="Shape 2"/>
          <p:cNvSpPr/>
          <p:nvPr/>
        </p:nvSpPr>
        <p:spPr>
          <a:xfrm>
            <a:off x="804672" y="1673352"/>
            <a:ext cx="457200" cy="457200"/>
          </a:xfrm>
          <a:prstGeom prst="ellipse">
            <a:avLst/>
          </a:prstGeom>
          <a:solidFill>
            <a:srgbClr val="34D399"/>
          </a:solidFill>
          <a:ln/>
        </p:spPr>
      </p:sp>
      <p:sp>
        <p:nvSpPr>
          <p:cNvPr id="5" name="Text 3"/>
          <p:cNvSpPr/>
          <p:nvPr/>
        </p:nvSpPr>
        <p:spPr>
          <a:xfrm>
            <a:off x="804672" y="1673352"/>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804672" y="2286000"/>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Whisper STT integrated</a:t>
            </a:r>
            <a:endParaRPr lang="en-US" sz="1500" dirty="0"/>
          </a:p>
        </p:txBody>
      </p:sp>
      <p:sp>
        <p:nvSpPr>
          <p:cNvPr id="7" name="Text 5"/>
          <p:cNvSpPr/>
          <p:nvPr/>
        </p:nvSpPr>
        <p:spPr>
          <a:xfrm>
            <a:off x="804672" y="2770632"/>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Real speech-to-text replaces the simulated delay.</a:t>
            </a:r>
            <a:endParaRPr lang="en-US" sz="1150" dirty="0"/>
          </a:p>
        </p:txBody>
      </p:sp>
      <p:sp>
        <p:nvSpPr>
          <p:cNvPr id="8" name="Shape 6"/>
          <p:cNvSpPr/>
          <p:nvPr/>
        </p:nvSpPr>
        <p:spPr>
          <a:xfrm>
            <a:off x="4352544" y="1417320"/>
            <a:ext cx="3630168" cy="2011680"/>
          </a:xfrm>
          <a:prstGeom prst="roundRect">
            <a:avLst>
              <a:gd name="adj" fmla="val 5455"/>
            </a:avLst>
          </a:prstGeom>
          <a:solidFill>
            <a:srgbClr val="18122B"/>
          </a:solidFill>
          <a:ln/>
        </p:spPr>
      </p:sp>
      <p:sp>
        <p:nvSpPr>
          <p:cNvPr id="9" name="Shape 7"/>
          <p:cNvSpPr/>
          <p:nvPr/>
        </p:nvSpPr>
        <p:spPr>
          <a:xfrm>
            <a:off x="4608576" y="1673352"/>
            <a:ext cx="457200" cy="457200"/>
          </a:xfrm>
          <a:prstGeom prst="ellipse">
            <a:avLst/>
          </a:prstGeom>
          <a:solidFill>
            <a:srgbClr val="34D399"/>
          </a:solidFill>
          <a:ln/>
        </p:spPr>
      </p:sp>
      <p:sp>
        <p:nvSpPr>
          <p:cNvPr id="10" name="Text 8"/>
          <p:cNvSpPr/>
          <p:nvPr/>
        </p:nvSpPr>
        <p:spPr>
          <a:xfrm>
            <a:off x="4608576" y="1673352"/>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4608576" y="2286000"/>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Llama-3 Summarization</a:t>
            </a:r>
            <a:endParaRPr lang="en-US" sz="1500" dirty="0"/>
          </a:p>
        </p:txBody>
      </p:sp>
      <p:sp>
        <p:nvSpPr>
          <p:cNvPr id="12" name="Text 10"/>
          <p:cNvSpPr/>
          <p:nvPr/>
        </p:nvSpPr>
        <p:spPr>
          <a:xfrm>
            <a:off x="4608576" y="2770632"/>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Generates high-quality, structured multi-paragraph summaries.</a:t>
            </a:r>
            <a:endParaRPr lang="en-US" sz="1150" dirty="0"/>
          </a:p>
        </p:txBody>
      </p:sp>
      <p:sp>
        <p:nvSpPr>
          <p:cNvPr id="13" name="Shape 11"/>
          <p:cNvSpPr/>
          <p:nvPr/>
        </p:nvSpPr>
        <p:spPr>
          <a:xfrm>
            <a:off x="8156448" y="1417320"/>
            <a:ext cx="3630168" cy="2011680"/>
          </a:xfrm>
          <a:prstGeom prst="roundRect">
            <a:avLst>
              <a:gd name="adj" fmla="val 5455"/>
            </a:avLst>
          </a:prstGeom>
          <a:solidFill>
            <a:srgbClr val="18122B"/>
          </a:solidFill>
          <a:ln/>
        </p:spPr>
      </p:sp>
      <p:sp>
        <p:nvSpPr>
          <p:cNvPr id="14" name="Shape 12"/>
          <p:cNvSpPr/>
          <p:nvPr/>
        </p:nvSpPr>
        <p:spPr>
          <a:xfrm>
            <a:off x="8412480" y="1673352"/>
            <a:ext cx="457200" cy="457200"/>
          </a:xfrm>
          <a:prstGeom prst="ellipse">
            <a:avLst/>
          </a:prstGeom>
          <a:solidFill>
            <a:srgbClr val="34D399"/>
          </a:solidFill>
          <a:ln/>
        </p:spPr>
      </p:sp>
      <p:sp>
        <p:nvSpPr>
          <p:cNvPr id="15" name="Text 13"/>
          <p:cNvSpPr/>
          <p:nvPr/>
        </p:nvSpPr>
        <p:spPr>
          <a:xfrm>
            <a:off x="8412480" y="1673352"/>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8412480" y="2286000"/>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MongoDB Database Added</a:t>
            </a:r>
            <a:endParaRPr lang="en-US" sz="1500" dirty="0"/>
          </a:p>
        </p:txBody>
      </p:sp>
      <p:sp>
        <p:nvSpPr>
          <p:cNvPr id="17" name="Text 15"/>
          <p:cNvSpPr/>
          <p:nvPr/>
        </p:nvSpPr>
        <p:spPr>
          <a:xfrm>
            <a:off x="8412480" y="2770632"/>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Transcripts and summaries securely stored and retrieved.</a:t>
            </a:r>
            <a:endParaRPr lang="en-US" sz="1150" dirty="0"/>
          </a:p>
        </p:txBody>
      </p:sp>
      <p:sp>
        <p:nvSpPr>
          <p:cNvPr id="18" name="Shape 16"/>
          <p:cNvSpPr/>
          <p:nvPr/>
        </p:nvSpPr>
        <p:spPr>
          <a:xfrm>
            <a:off x="548640" y="3602736"/>
            <a:ext cx="3630168" cy="2011680"/>
          </a:xfrm>
          <a:prstGeom prst="roundRect">
            <a:avLst>
              <a:gd name="adj" fmla="val 5455"/>
            </a:avLst>
          </a:prstGeom>
          <a:solidFill>
            <a:srgbClr val="18122B"/>
          </a:solidFill>
          <a:ln/>
        </p:spPr>
      </p:sp>
      <p:sp>
        <p:nvSpPr>
          <p:cNvPr id="19" name="Shape 17"/>
          <p:cNvSpPr/>
          <p:nvPr/>
        </p:nvSpPr>
        <p:spPr>
          <a:xfrm>
            <a:off x="804672" y="3858768"/>
            <a:ext cx="457200" cy="457200"/>
          </a:xfrm>
          <a:prstGeom prst="ellipse">
            <a:avLst/>
          </a:prstGeom>
          <a:solidFill>
            <a:srgbClr val="34D399"/>
          </a:solidFill>
          <a:ln/>
        </p:spPr>
      </p:sp>
      <p:sp>
        <p:nvSpPr>
          <p:cNvPr id="20" name="Text 18"/>
          <p:cNvSpPr/>
          <p:nvPr/>
        </p:nvSpPr>
        <p:spPr>
          <a:xfrm>
            <a:off x="804672" y="3858768"/>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804672" y="4471416"/>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Actual Video Playback</a:t>
            </a:r>
            <a:endParaRPr lang="en-US" sz="1500" dirty="0"/>
          </a:p>
        </p:txBody>
      </p:sp>
      <p:sp>
        <p:nvSpPr>
          <p:cNvPr id="22" name="Text 20"/>
          <p:cNvSpPr/>
          <p:nvPr/>
        </p:nvSpPr>
        <p:spPr>
          <a:xfrm>
            <a:off x="804672" y="4956048"/>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HTML5 video player streaming dynamically from backend.</a:t>
            </a:r>
            <a:endParaRPr lang="en-US" sz="1150" dirty="0"/>
          </a:p>
        </p:txBody>
      </p:sp>
      <p:sp>
        <p:nvSpPr>
          <p:cNvPr id="23" name="Shape 21"/>
          <p:cNvSpPr/>
          <p:nvPr/>
        </p:nvSpPr>
        <p:spPr>
          <a:xfrm>
            <a:off x="4352544" y="3602736"/>
            <a:ext cx="3630168" cy="2011680"/>
          </a:xfrm>
          <a:prstGeom prst="roundRect">
            <a:avLst>
              <a:gd name="adj" fmla="val 5455"/>
            </a:avLst>
          </a:prstGeom>
          <a:solidFill>
            <a:srgbClr val="18122B"/>
          </a:solidFill>
          <a:ln/>
        </p:spPr>
      </p:sp>
      <p:sp>
        <p:nvSpPr>
          <p:cNvPr id="24" name="Shape 22"/>
          <p:cNvSpPr/>
          <p:nvPr/>
        </p:nvSpPr>
        <p:spPr>
          <a:xfrm>
            <a:off x="4608576" y="3858768"/>
            <a:ext cx="457200" cy="457200"/>
          </a:xfrm>
          <a:prstGeom prst="ellipse">
            <a:avLst/>
          </a:prstGeom>
          <a:solidFill>
            <a:srgbClr val="34D399"/>
          </a:solidFill>
          <a:ln/>
        </p:spPr>
      </p:sp>
      <p:sp>
        <p:nvSpPr>
          <p:cNvPr id="25" name="Text 23"/>
          <p:cNvSpPr/>
          <p:nvPr/>
        </p:nvSpPr>
        <p:spPr>
          <a:xfrm>
            <a:off x="4608576" y="3858768"/>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4608576" y="4471416"/>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Decoupled UI Flow</a:t>
            </a:r>
            <a:endParaRPr lang="en-US" sz="1500" dirty="0"/>
          </a:p>
        </p:txBody>
      </p:sp>
      <p:sp>
        <p:nvSpPr>
          <p:cNvPr id="27" name="Text 25"/>
          <p:cNvSpPr/>
          <p:nvPr/>
        </p:nvSpPr>
        <p:spPr>
          <a:xfrm>
            <a:off x="4608576" y="4956048"/>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Manual 'Generate AI' triggers and active progress tracking.</a:t>
            </a:r>
            <a:endParaRPr lang="en-US" sz="1150" dirty="0"/>
          </a:p>
        </p:txBody>
      </p:sp>
      <p:sp>
        <p:nvSpPr>
          <p:cNvPr id="28" name="Shape 26"/>
          <p:cNvSpPr/>
          <p:nvPr/>
        </p:nvSpPr>
        <p:spPr>
          <a:xfrm>
            <a:off x="8156448" y="3602736"/>
            <a:ext cx="3630168" cy="2011680"/>
          </a:xfrm>
          <a:prstGeom prst="roundRect">
            <a:avLst>
              <a:gd name="adj" fmla="val 5455"/>
            </a:avLst>
          </a:prstGeom>
          <a:solidFill>
            <a:srgbClr val="18122B"/>
          </a:solidFill>
          <a:ln/>
        </p:spPr>
      </p:sp>
      <p:sp>
        <p:nvSpPr>
          <p:cNvPr id="29" name="Shape 27"/>
          <p:cNvSpPr/>
          <p:nvPr/>
        </p:nvSpPr>
        <p:spPr>
          <a:xfrm>
            <a:off x="8412480" y="3858768"/>
            <a:ext cx="457200" cy="457200"/>
          </a:xfrm>
          <a:prstGeom prst="ellipse">
            <a:avLst/>
          </a:prstGeom>
          <a:solidFill>
            <a:srgbClr val="34D399"/>
          </a:solidFill>
          <a:ln/>
        </p:spPr>
      </p:sp>
      <p:sp>
        <p:nvSpPr>
          <p:cNvPr id="30" name="Text 28"/>
          <p:cNvSpPr/>
          <p:nvPr/>
        </p:nvSpPr>
        <p:spPr>
          <a:xfrm>
            <a:off x="8412480" y="3858768"/>
            <a:ext cx="457200" cy="457200"/>
          </a:xfrm>
          <a:prstGeom prst="rect">
            <a:avLst/>
          </a:prstGeom>
          <a:noFill/>
          <a:ln/>
        </p:spPr>
        <p:txBody>
          <a:bodyPr wrap="square" lIns="0" tIns="0" rIns="0" bIns="0" rtlCol="0" anchor="ctr"/>
          <a:lstStyle/>
          <a:p>
            <a:pPr marL="0" indent="0" algn="ctr">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8412480" y="4471416"/>
            <a:ext cx="3118104" cy="5029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Summary Quality Validated</a:t>
            </a:r>
            <a:endParaRPr lang="en-US" sz="1500" dirty="0"/>
          </a:p>
        </p:txBody>
      </p:sp>
      <p:sp>
        <p:nvSpPr>
          <p:cNvPr id="32" name="Text 30"/>
          <p:cNvSpPr/>
          <p:nvPr/>
        </p:nvSpPr>
        <p:spPr>
          <a:xfrm>
            <a:off x="8412480" y="4956048"/>
            <a:ext cx="3118104" cy="594360"/>
          </a:xfrm>
          <a:prstGeom prst="rect">
            <a:avLst/>
          </a:prstGeom>
          <a:noFill/>
          <a:ln/>
        </p:spPr>
        <p:txBody>
          <a:bodyPr wrap="square" rtlCol="0" anchor="ctr"/>
          <a:lstStyle/>
          <a:p>
            <a:pPr marL="0" indent="0">
              <a:buNone/>
            </a:pPr>
            <a:r>
              <a:rPr lang="en-US" sz="1150" dirty="0">
                <a:solidFill>
                  <a:srgbClr val="B7AECF"/>
                </a:solidFill>
                <a:latin typeface="Calibri" pitchFamily="34" charset="0"/>
                <a:ea typeface="Calibri" pitchFamily="34" charset="-122"/>
                <a:cs typeface="Calibri" pitchFamily="34" charset="-120"/>
              </a:rPr>
              <a:t>Prompts engineered to extract accurate and relevant insights.</a:t>
            </a:r>
            <a:endParaRPr lang="en-US" sz="1150" dirty="0"/>
          </a:p>
        </p:txBody>
      </p:sp>
      <p:sp>
        <p:nvSpPr>
          <p:cNvPr id="33" name="Text 31"/>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34" name="Text 3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16"/>
        </a:solidFill>
        <a:effectLst/>
      </p:bgPr>
    </p:bg>
    <p:spTree>
      <p:nvGrpSpPr>
        <p:cNvPr id="1" name=""/>
        <p:cNvGrpSpPr/>
        <p:nvPr/>
      </p:nvGrpSpPr>
      <p:grpSpPr>
        <a:xfrm>
          <a:off x="0" y="0"/>
          <a:ext cx="0" cy="0"/>
          <a:chOff x="0" y="0"/>
          <a:chExt cx="0" cy="0"/>
        </a:xfrm>
      </p:grpSpPr>
      <p:sp>
        <p:nvSpPr>
          <p:cNvPr id="2" name="Shape 0"/>
          <p:cNvSpPr/>
          <p:nvPr/>
        </p:nvSpPr>
        <p:spPr>
          <a:xfrm>
            <a:off x="9326880" y="4206240"/>
            <a:ext cx="4389120" cy="4389120"/>
          </a:xfrm>
          <a:prstGeom prst="ellipse">
            <a:avLst/>
          </a:prstGeom>
          <a:solidFill>
            <a:srgbClr val="D946EF">
              <a:alpha val="18000"/>
            </a:srgbClr>
          </a:solidFill>
          <a:ln/>
        </p:spPr>
      </p:sp>
      <p:sp>
        <p:nvSpPr>
          <p:cNvPr id="3" name="Text 1"/>
          <p:cNvSpPr/>
          <p:nvPr/>
        </p:nvSpPr>
        <p:spPr>
          <a:xfrm>
            <a:off x="548640" y="502920"/>
            <a:ext cx="7315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What's Next?</a:t>
            </a:r>
            <a:endParaRPr lang="en-US" sz="3000" dirty="0"/>
          </a:p>
        </p:txBody>
      </p:sp>
      <p:sp>
        <p:nvSpPr>
          <p:cNvPr id="4" name="Shape 2"/>
          <p:cNvSpPr/>
          <p:nvPr/>
        </p:nvSpPr>
        <p:spPr>
          <a:xfrm>
            <a:off x="576072" y="1170432"/>
            <a:ext cx="2834640" cy="457200"/>
          </a:xfrm>
          <a:prstGeom prst="roundRect">
            <a:avLst>
              <a:gd name="adj" fmla="val 50000"/>
            </a:avLst>
          </a:prstGeom>
          <a:solidFill>
            <a:srgbClr val="5B21B6"/>
          </a:solidFill>
          <a:ln/>
        </p:spPr>
      </p:sp>
      <p:sp>
        <p:nvSpPr>
          <p:cNvPr id="5" name="Text 3"/>
          <p:cNvSpPr/>
          <p:nvPr/>
        </p:nvSpPr>
        <p:spPr>
          <a:xfrm>
            <a:off x="576072" y="1170432"/>
            <a:ext cx="2834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MILESTONE 3  •  WEEK 5–6</a:t>
            </a:r>
            <a:endParaRPr lang="en-US" sz="1100" dirty="0"/>
          </a:p>
        </p:txBody>
      </p:sp>
      <p:sp>
        <p:nvSpPr>
          <p:cNvPr id="6" name="Shape 4"/>
          <p:cNvSpPr/>
          <p:nvPr/>
        </p:nvSpPr>
        <p:spPr>
          <a:xfrm>
            <a:off x="548640" y="1965960"/>
            <a:ext cx="438912" cy="438912"/>
          </a:xfrm>
          <a:prstGeom prst="ellipse">
            <a:avLst/>
          </a:prstGeom>
          <a:solidFill>
            <a:srgbClr val="D946EF"/>
          </a:solidFill>
          <a:ln/>
        </p:spPr>
      </p:sp>
      <p:sp>
        <p:nvSpPr>
          <p:cNvPr id="7" name="Text 5"/>
          <p:cNvSpPr/>
          <p:nvPr/>
        </p:nvSpPr>
        <p:spPr>
          <a:xfrm>
            <a:off x="548640" y="196596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170432" y="1920240"/>
            <a:ext cx="868680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Advanced Key Moments Detection</a:t>
            </a:r>
            <a:endParaRPr lang="en-US" sz="1550" dirty="0"/>
          </a:p>
        </p:txBody>
      </p:sp>
      <p:sp>
        <p:nvSpPr>
          <p:cNvPr id="9" name="Text 7"/>
          <p:cNvSpPr/>
          <p:nvPr/>
        </p:nvSpPr>
        <p:spPr>
          <a:xfrm>
            <a:off x="1170432" y="2258568"/>
            <a:ext cx="8961120" cy="45720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Implement highly accurate timestamp extraction logic.</a:t>
            </a:r>
            <a:endParaRPr lang="en-US" sz="1250" dirty="0"/>
          </a:p>
        </p:txBody>
      </p:sp>
      <p:sp>
        <p:nvSpPr>
          <p:cNvPr id="10" name="Shape 8"/>
          <p:cNvSpPr/>
          <p:nvPr/>
        </p:nvSpPr>
        <p:spPr>
          <a:xfrm>
            <a:off x="548640" y="3017520"/>
            <a:ext cx="438912" cy="438912"/>
          </a:xfrm>
          <a:prstGeom prst="ellipse">
            <a:avLst/>
          </a:prstGeom>
          <a:solidFill>
            <a:srgbClr val="D946EF"/>
          </a:solidFill>
          <a:ln/>
        </p:spPr>
      </p:sp>
      <p:sp>
        <p:nvSpPr>
          <p:cNvPr id="11" name="Text 9"/>
          <p:cNvSpPr/>
          <p:nvPr/>
        </p:nvSpPr>
        <p:spPr>
          <a:xfrm>
            <a:off x="548640" y="3017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170432" y="2971800"/>
            <a:ext cx="868680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Highlight Extraction &amp; Reports</a:t>
            </a:r>
            <a:endParaRPr lang="en-US" sz="1550" dirty="0"/>
          </a:p>
        </p:txBody>
      </p:sp>
      <p:sp>
        <p:nvSpPr>
          <p:cNvPr id="13" name="Text 11"/>
          <p:cNvSpPr/>
          <p:nvPr/>
        </p:nvSpPr>
        <p:spPr>
          <a:xfrm>
            <a:off x="1170432" y="3310128"/>
            <a:ext cx="8961120" cy="45720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Detect important video segments automatically.</a:t>
            </a:r>
            <a:endParaRPr lang="en-US" sz="1250" dirty="0"/>
          </a:p>
        </p:txBody>
      </p:sp>
      <p:sp>
        <p:nvSpPr>
          <p:cNvPr id="14" name="Shape 12"/>
          <p:cNvSpPr/>
          <p:nvPr/>
        </p:nvSpPr>
        <p:spPr>
          <a:xfrm>
            <a:off x="548640" y="4069080"/>
            <a:ext cx="438912" cy="438912"/>
          </a:xfrm>
          <a:prstGeom prst="ellipse">
            <a:avLst/>
          </a:prstGeom>
          <a:solidFill>
            <a:srgbClr val="D946EF"/>
          </a:solidFill>
          <a:ln/>
        </p:spPr>
      </p:sp>
      <p:sp>
        <p:nvSpPr>
          <p:cNvPr id="15" name="Text 13"/>
          <p:cNvSpPr/>
          <p:nvPr/>
        </p:nvSpPr>
        <p:spPr>
          <a:xfrm>
            <a:off x="548640" y="406908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170432" y="4023360"/>
            <a:ext cx="868680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Keyword Extraction Workflows</a:t>
            </a:r>
            <a:endParaRPr lang="en-US" sz="1550" dirty="0"/>
          </a:p>
        </p:txBody>
      </p:sp>
      <p:sp>
        <p:nvSpPr>
          <p:cNvPr id="17" name="Text 15"/>
          <p:cNvSpPr/>
          <p:nvPr/>
        </p:nvSpPr>
        <p:spPr>
          <a:xfrm>
            <a:off x="1170432" y="4361688"/>
            <a:ext cx="8961120" cy="45720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Identify core topics to power search and filtering.</a:t>
            </a:r>
            <a:endParaRPr lang="en-US" sz="1250" dirty="0"/>
          </a:p>
        </p:txBody>
      </p:sp>
      <p:sp>
        <p:nvSpPr>
          <p:cNvPr id="18" name="Shape 16"/>
          <p:cNvSpPr/>
          <p:nvPr/>
        </p:nvSpPr>
        <p:spPr>
          <a:xfrm>
            <a:off x="548640" y="5120640"/>
            <a:ext cx="438912" cy="438912"/>
          </a:xfrm>
          <a:prstGeom prst="ellipse">
            <a:avLst/>
          </a:prstGeom>
          <a:solidFill>
            <a:srgbClr val="D946EF"/>
          </a:solidFill>
          <a:ln/>
        </p:spPr>
      </p:sp>
      <p:sp>
        <p:nvSpPr>
          <p:cNvPr id="19" name="Text 17"/>
          <p:cNvSpPr/>
          <p:nvPr/>
        </p:nvSpPr>
        <p:spPr>
          <a:xfrm>
            <a:off x="548640" y="512064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170432" y="5074920"/>
            <a:ext cx="868680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Analytics Dashboard</a:t>
            </a:r>
            <a:endParaRPr lang="en-US" sz="1550" dirty="0"/>
          </a:p>
        </p:txBody>
      </p:sp>
      <p:sp>
        <p:nvSpPr>
          <p:cNvPr id="21" name="Text 19"/>
          <p:cNvSpPr/>
          <p:nvPr/>
        </p:nvSpPr>
        <p:spPr>
          <a:xfrm>
            <a:off x="1170432" y="5413248"/>
            <a:ext cx="8961120" cy="457200"/>
          </a:xfrm>
          <a:prstGeom prst="rect">
            <a:avLst/>
          </a:prstGeom>
          <a:noFill/>
          <a:ln/>
        </p:spPr>
        <p:txBody>
          <a:bodyPr wrap="square" rtlCol="0" anchor="ctr"/>
          <a:lstStyle/>
          <a:p>
            <a:pPr marL="0" indent="0">
              <a:buNone/>
            </a:pPr>
            <a:r>
              <a:rPr lang="en-US" sz="1250" dirty="0">
                <a:solidFill>
                  <a:srgbClr val="B7AECF"/>
                </a:solidFill>
                <a:latin typeface="Calibri" pitchFamily="34" charset="0"/>
                <a:ea typeface="Calibri" pitchFamily="34" charset="-122"/>
                <a:cs typeface="Calibri" pitchFamily="34" charset="-120"/>
              </a:rPr>
              <a:t>Build out video analytics, content insights, and usage statistics.</a:t>
            </a:r>
            <a:endParaRPr lang="en-US" sz="1250" dirty="0"/>
          </a:p>
        </p:txBody>
      </p:sp>
      <p:sp>
        <p:nvSpPr>
          <p:cNvPr id="22" name="Text 20"/>
          <p:cNvSpPr/>
          <p:nvPr/>
        </p:nvSpPr>
        <p:spPr>
          <a:xfrm>
            <a:off x="548640" y="6172200"/>
            <a:ext cx="5486400" cy="457200"/>
          </a:xfrm>
          <a:prstGeom prst="rect">
            <a:avLst/>
          </a:prstGeom>
          <a:noFill/>
          <a:ln/>
        </p:spPr>
        <p:txBody>
          <a:bodyPr wrap="square" rtlCol="0" anchor="ctr"/>
          <a:lstStyle/>
          <a:p>
            <a:pPr marL="0" indent="0">
              <a:buNone/>
            </a:pPr>
            <a:r>
              <a:rPr lang="en-US" sz="1600" b="1" dirty="0">
                <a:solidFill>
                  <a:srgbClr val="F0ABFC"/>
                </a:solidFill>
                <a:latin typeface="Cambria" pitchFamily="34" charset="0"/>
                <a:ea typeface="Cambria" pitchFamily="34" charset="-122"/>
                <a:cs typeface="Cambria" pitchFamily="34" charset="-120"/>
              </a:rPr>
              <a:t>Thank you</a:t>
            </a:r>
            <a:endParaRPr lang="en-US" sz="1600" dirty="0"/>
          </a:p>
        </p:txBody>
      </p:sp>
      <p:sp>
        <p:nvSpPr>
          <p:cNvPr id="23" name="Text 21"/>
          <p:cNvSpPr/>
          <p:nvPr/>
        </p:nvSpPr>
        <p:spPr>
          <a:xfrm>
            <a:off x="457200" y="6473952"/>
            <a:ext cx="4572000" cy="274320"/>
          </a:xfrm>
          <a:prstGeom prst="rect">
            <a:avLst/>
          </a:prstGeom>
          <a:noFill/>
          <a:ln/>
        </p:spPr>
        <p:txBody>
          <a:bodyPr wrap="square" lIns="0" tIns="0" rIns="0" bIns="0" rtlCol="0" anchor="ctr"/>
          <a:lstStyle/>
          <a:p>
            <a:pPr marL="0" indent="0" algn="l">
              <a:buNone/>
            </a:pPr>
            <a:r>
              <a:rPr lang="en-US" sz="900" dirty="0">
                <a:solidFill>
                  <a:srgbClr val="8A81A6"/>
                </a:solidFill>
                <a:latin typeface="Calibri" pitchFamily="34" charset="0"/>
                <a:ea typeface="Calibri" pitchFamily="34" charset="-122"/>
                <a:cs typeface="Calibri" pitchFamily="34" charset="-120"/>
              </a:rPr>
              <a:t>ClipMind AI  •  Milestone 2</a:t>
            </a:r>
            <a:endParaRPr lang="en-US" sz="900" dirty="0"/>
          </a:p>
        </p:txBody>
      </p:sp>
      <p:sp>
        <p:nvSpPr>
          <p:cNvPr id="24" name="Text 2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8A81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1283</Words>
  <Application>Microsoft Office PowerPoint</Application>
  <PresentationFormat>Widescreen</PresentationFormat>
  <Paragraphs>164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Devanshi Malhotra</cp:lastModifiedBy>
  <cp:revision>5</cp:revision>
  <dcterms:created xsi:type="dcterms:W3CDTF">2026-07-24T14:49:46Z</dcterms:created>
  <dcterms:modified xsi:type="dcterms:W3CDTF">2026-07-24T16:02:05Z</dcterms:modified>
</cp:coreProperties>
</file>